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4a1ab65ecb4141" /><Relationship Type="http://schemas.openxmlformats.org/officeDocument/2006/relationships/extended-properties" Target="/docProps/app.xml" Id="Rdfde63b7c3f941de" /><Relationship Type="http://schemas.openxmlformats.org/officeDocument/2006/relationships/officeDocument" Target="/ppt/presentation.xml" Id="R9bd8b0e1bec54eec" /></Relationships>
</file>

<file path=ppt/presentation.xml><?xml version="1.0" encoding="utf-8"?>
<p:presentation xmlns:p="http://schemas.openxmlformats.org/presentationml/2006/main">
  <p:sldMasterIdLst>
    <p:sldMasterId xmlns:r="http://schemas.openxmlformats.org/officeDocument/2006/relationships" id="2147483648" r:id="R6bca66dd0d014302"/>
  </p:sldMasterIdLst>
  <p:notesMasterIdLst>
    <p:notesMasterId xmlns:r="http://schemas.openxmlformats.org/officeDocument/2006/relationships" r:id="R3a47fdcc05494940"/>
  </p:notesMasterIdLst>
  <p:sldIdLst>
    <p:sldId xmlns:r="http://schemas.openxmlformats.org/officeDocument/2006/relationships" id="256" r:id="R5745440df3ea4c2a"/>
    <p:sldId xmlns:r="http://schemas.openxmlformats.org/officeDocument/2006/relationships" id="257" r:id="Rd20fe67f0f1b4d11"/>
    <p:sldId xmlns:r="http://schemas.openxmlformats.org/officeDocument/2006/relationships" id="258" r:id="R936cef9c91f34df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472fc2ba214455" /><Relationship Type="http://schemas.openxmlformats.org/officeDocument/2006/relationships/slideMaster" Target="/ppt/slideMasters/slideMaster1.xml" Id="R6bca66dd0d014302" /><Relationship Type="http://schemas.openxmlformats.org/officeDocument/2006/relationships/notesMaster" Target="/ppt/notesMasters/notesMaster1.xml" Id="R3a47fdcc05494940" /><Relationship Type="http://schemas.openxmlformats.org/officeDocument/2006/relationships/presProps" Target="/ppt/presProps.xml" Id="Rdd3ef36df8774895" /><Relationship Type="http://schemas.openxmlformats.org/officeDocument/2006/relationships/tableStyles" Target="/ppt/tableStyles.xml" Id="R86ef586a3a0a424d" /><Relationship Type="http://schemas.openxmlformats.org/officeDocument/2006/relationships/slide" Target="/ppt/slides/slide1.xml" Id="R5745440df3ea4c2a" /><Relationship Type="http://schemas.openxmlformats.org/officeDocument/2006/relationships/slide" Target="/ppt/slides/slide2.xml" Id="Rd20fe67f0f1b4d11" /><Relationship Type="http://schemas.openxmlformats.org/officeDocument/2006/relationships/slide" Target="/ppt/slides/slide3.xml" Id="R936cef9c91f34d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943d0d4a3749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ccc2fded2c43b9" /><Relationship Type="http://schemas.openxmlformats.org/officeDocument/2006/relationships/notesMaster" Target="/ppt/notesMasters/notesMaster1.xml" Id="Rb79e7176106742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d57f3fd60f4c5e" /><Relationship Type="http://schemas.openxmlformats.org/officeDocument/2006/relationships/notesMaster" Target="/ppt/notesMasters/notesMaster1.xml" Id="R7dd5255135b842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7eca55c26347c1" /><Relationship Type="http://schemas.openxmlformats.org/officeDocument/2006/relationships/notesMaster" Target="/ppt/notesMasters/notesMaster1.xml" Id="R88b308a9c71244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integration architecture based on the current repository APIs, tenant isolation and events. No live NADRA integration is claimed. CRM and other connectors require implementation and authorized access. SSO handles staff access separately from system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grouping based on the current insurance-ai repository and discussion. Module presence does not imply production readiness. Request Management is planned, not implemented. Underwriting and Automation Chat have separate frontends. This is a functional inventory, not a microservice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workflow supplied by the user and attributed to Faraz sb. All 17 steps retained in their supplied order. The surrender/death/disability label reflects the supplied wording. In operational design, surrender, maturity benefits and death/disability claims are separate branches rather than a universal linear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59e82cce5b4c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4d4f61188444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d17431046d4e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c0bc078ddb4f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db5eaf8f3746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f911a4a2214b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6A161B-CA77-429B-AE9D-BBCB52FE6D3A}"/>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42144D-A151-4C25-B7A6-9F157D7AF7A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BF227E-0223-4C09-9DBE-C465C9A164F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631EF9-7832-4C36-8D4A-ACFF31DDF5A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77E7F7-B7BF-4CE3-976F-9D7F3ECD875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2A2CD6-C9E3-4B6E-978D-B72D91C38E2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0E8782-5667-4A56-BE07-E9646DAEE2B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17441E-29B7-4955-920F-2879146752A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0EA578-1F72-4658-B9B4-E6E343979ED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4A5471-2B0A-4BE4-8C84-BC40B678994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87e528426d4a43" /><Relationship Type="http://schemas.openxmlformats.org/officeDocument/2006/relationships/slideLayout" Target="/ppt/slideLayouts/slideLayout1.xml" Id="Rb631fa2abd6a403f" /><Relationship Type="http://schemas.openxmlformats.org/officeDocument/2006/relationships/slideLayout" Target="/ppt/slideLayouts/slideLayout2.xml" Id="R639327eb14dc4c7e" /><Relationship Type="http://schemas.openxmlformats.org/officeDocument/2006/relationships/slideLayout" Target="/ppt/slideLayouts/slideLayout3.xml" Id="R5b7a5ad8e83a4d7b" /><Relationship Type="http://schemas.openxmlformats.org/officeDocument/2006/relationships/slideLayout" Target="/ppt/slideLayouts/slideLayout4.xml" Id="Rf3e7ba078d874dc4" /><Relationship Type="http://schemas.openxmlformats.org/officeDocument/2006/relationships/slideLayout" Target="/ppt/slideLayouts/slideLayout5.xml" Id="R81c442301fe940cc" /><Relationship Type="http://schemas.openxmlformats.org/officeDocument/2006/relationships/slideLayout" Target="/ppt/slideLayouts/slideLayout6.xml" Id="Rbb28e99418ef4a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31fa2abd6a403f"/>
    <p:sldLayoutId xmlns:r="http://schemas.openxmlformats.org/officeDocument/2006/relationships" id="2147483650" r:id="R639327eb14dc4c7e"/>
    <p:sldLayoutId xmlns:r="http://schemas.openxmlformats.org/officeDocument/2006/relationships" id="2147483651" r:id="R5b7a5ad8e83a4d7b"/>
    <p:sldLayoutId xmlns:r="http://schemas.openxmlformats.org/officeDocument/2006/relationships" id="2147483652" r:id="Rf3e7ba078d874dc4"/>
    <p:sldLayoutId xmlns:r="http://schemas.openxmlformats.org/officeDocument/2006/relationships" id="2147483653" r:id="R81c442301fe940cc"/>
    <p:sldLayoutId xmlns:r="http://schemas.openxmlformats.org/officeDocument/2006/relationships" id="2147483654" r:id="Rbb28e99418ef4a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977d80833d4a90" /><Relationship Type="http://schemas.openxmlformats.org/officeDocument/2006/relationships/notesSlide" Target="/ppt/notesSlides/notesSlide1.xml" Id="R77ce4356ad2e45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81c670dc0d4a0d" /><Relationship Type="http://schemas.openxmlformats.org/officeDocument/2006/relationships/notesSlide" Target="/ppt/notesSlides/notesSlide2.xml" Id="R368b57e6947f48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1dc3c4fec948bb" /><Relationship Type="http://schemas.openxmlformats.org/officeDocument/2006/relationships/notesSlide" Target="/ppt/notesSlides/notesSlide3.xml" Id="Rff00a1ff56ef4007" /></Relationships>
</file>

<file path=ppt/slides/slide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96289384-D9EB-49A3-92CA-CAA92B13AF41}"/>
              </a:ext>
            </a:extLst>
          </p:cNvPr>
          <p:cNvCxnSpPr>
            <a:stCxn xmlns:a="http://schemas.openxmlformats.org/drawingml/2006/main" id="5" idx="3"/>
            <a:endCxn xmlns:a="http://schemas.openxmlformats.org/drawingml/2006/main" id="16" idx="1"/>
          </p:cNvCxnSpPr>
          <p:nvPr/>
        </p:nvCxnSpPr>
        <p:spPr>
          <a:xfrm xmlns:a="http://schemas.openxmlformats.org/drawingml/2006/main">
            <a:off x="9858375" y="4191000"/>
            <a:ext cx="714375" cy="2762250"/>
          </a:xfrm>
          <a:prstGeom xmlns:a="http://schemas.openxmlformats.org/drawingml/2006/main" prst="straightConnector1">
            <a:avLst/>
          </a:prstGeom>
          <a:ln xmlns:a="http://schemas.openxmlformats.org/drawingml/2006/main" w="28575">
            <a:solidFill>
              <a:srgbClr val="1769AA"/>
            </a:solidFill>
            <a:headEnd type="arrow" w="med" len="med"/>
            <a:tailEnd type="arrow" w="med" len="med"/>
          </a:ln>
        </p:spPr>
      </p:cxnSp>
      <p:cxnSp>
        <p:nvCxnSpPr>
          <p:cNvPr id="15" name="">
            <a:extLst xmlns:a="http://schemas.openxmlformats.org/drawingml/2006/main">
              <a:ext uri="{FF2B5EF4-FFF2-40B4-BE49-F238E27FC236}">
                <a16:creationId xmlns:a16="http://schemas.microsoft.com/office/drawing/2014/main" id="{CA50D86B-117A-4999-8B17-748C853DCBE7}"/>
              </a:ext>
            </a:extLst>
          </p:cNvPr>
          <p:cNvCxnSpPr>
            <a:stCxn xmlns:a="http://schemas.openxmlformats.org/drawingml/2006/main" id="5" idx="3"/>
            <a:endCxn xmlns:a="http://schemas.openxmlformats.org/drawingml/2006/main" id="14" idx="1"/>
          </p:cNvCxnSpPr>
          <p:nvPr/>
        </p:nvCxnSpPr>
        <p:spPr>
          <a:xfrm xmlns:a="http://schemas.openxmlformats.org/drawingml/2006/main">
            <a:off x="9858375" y="4191000"/>
            <a:ext cx="714375" cy="571500"/>
          </a:xfrm>
          <a:prstGeom xmlns:a="http://schemas.openxmlformats.org/drawingml/2006/main" prst="straightConnector1">
            <a:avLst/>
          </a:prstGeom>
          <a:ln xmlns:a="http://schemas.openxmlformats.org/drawingml/2006/main" w="28575">
            <a:solidFill>
              <a:srgbClr val="1769AA"/>
            </a:solidFill>
            <a:headEnd type="arrow" w="med" len="med"/>
            <a:tailEnd type="arrow" w="med" len="med"/>
          </a:ln>
        </p:spPr>
      </p:cxnSp>
      <p:cxnSp>
        <p:nvCxnSpPr>
          <p:cNvPr id="13" name="">
            <a:extLst xmlns:a="http://schemas.openxmlformats.org/drawingml/2006/main">
              <a:ext uri="{FF2B5EF4-FFF2-40B4-BE49-F238E27FC236}">
                <a16:creationId xmlns:a16="http://schemas.microsoft.com/office/drawing/2014/main" id="{0FD459E3-716F-4AAE-A36D-5185AC7F6955}"/>
              </a:ext>
            </a:extLst>
          </p:cNvPr>
          <p:cNvCxnSpPr>
            <a:stCxn xmlns:a="http://schemas.openxmlformats.org/drawingml/2006/main" id="5" idx="3"/>
            <a:endCxn xmlns:a="http://schemas.openxmlformats.org/drawingml/2006/main" id="12" idx="1"/>
          </p:cNvCxnSpPr>
          <p:nvPr/>
        </p:nvCxnSpPr>
        <p:spPr>
          <a:xfrm xmlns:a="http://schemas.openxmlformats.org/drawingml/2006/main" flipV="1">
            <a:off x="9858375" y="2571750"/>
            <a:ext cx="714375" cy="1619250"/>
          </a:xfrm>
          <a:prstGeom xmlns:a="http://schemas.openxmlformats.org/drawingml/2006/main" prst="straightConnector1">
            <a:avLst/>
          </a:prstGeom>
          <a:ln xmlns:a="http://schemas.openxmlformats.org/drawingml/2006/main" w="28575">
            <a:solidFill>
              <a:srgbClr val="1769AA"/>
            </a:solidFill>
            <a:headEnd type="arrow" w="med" len="med"/>
            <a:tailEnd type="arrow" w="med" len="med"/>
          </a:ln>
        </p:spPr>
      </p:cxnSp>
      <p:cxnSp>
        <p:nvCxnSpPr>
          <p:cNvPr id="11" name="">
            <a:extLst xmlns:a="http://schemas.openxmlformats.org/drawingml/2006/main">
              <a:ext uri="{FF2B5EF4-FFF2-40B4-BE49-F238E27FC236}">
                <a16:creationId xmlns:a16="http://schemas.microsoft.com/office/drawing/2014/main" id="{C5ED3AD7-0A3E-4358-A303-9BC84607D668}"/>
              </a:ext>
            </a:extLst>
          </p:cNvPr>
          <p:cNvCxnSpPr>
            <a:stCxn xmlns:a="http://schemas.openxmlformats.org/drawingml/2006/main" id="10" idx="3"/>
            <a:endCxn xmlns:a="http://schemas.openxmlformats.org/drawingml/2006/main" id="5" idx="1"/>
          </p:cNvCxnSpPr>
          <p:nvPr/>
        </p:nvCxnSpPr>
        <p:spPr>
          <a:xfrm xmlns:a="http://schemas.openxmlformats.org/drawingml/2006/main" flipV="1">
            <a:off x="4667250" y="4191000"/>
            <a:ext cx="714375" cy="2762250"/>
          </a:xfrm>
          <a:prstGeom xmlns:a="http://schemas.openxmlformats.org/drawingml/2006/main" prst="straightConnector1">
            <a:avLst/>
          </a:prstGeom>
          <a:ln xmlns:a="http://schemas.openxmlformats.org/drawingml/2006/main" w="28575">
            <a:solidFill>
              <a:srgbClr val="1769AA"/>
            </a:solidFill>
            <a:headEnd type="arrow" w="med" len="med"/>
            <a:tailEnd type="arrow" w="med" len="med"/>
          </a:ln>
        </p:spPr>
      </p:cxnSp>
      <p:cxnSp>
        <p:nvCxnSpPr>
          <p:cNvPr id="9" name="">
            <a:extLst xmlns:a="http://schemas.openxmlformats.org/drawingml/2006/main">
              <a:ext uri="{FF2B5EF4-FFF2-40B4-BE49-F238E27FC236}">
                <a16:creationId xmlns:a16="http://schemas.microsoft.com/office/drawing/2014/main" id="{B44D7D95-69D4-46A4-BE68-A2C7DB1DF1C4}"/>
              </a:ext>
            </a:extLst>
          </p:cNvPr>
          <p:cNvCxnSpPr>
            <a:stCxn xmlns:a="http://schemas.openxmlformats.org/drawingml/2006/main" id="8" idx="3"/>
            <a:endCxn xmlns:a="http://schemas.openxmlformats.org/drawingml/2006/main" id="5" idx="1"/>
          </p:cNvCxnSpPr>
          <p:nvPr/>
        </p:nvCxnSpPr>
        <p:spPr>
          <a:xfrm xmlns:a="http://schemas.openxmlformats.org/drawingml/2006/main" flipV="1">
            <a:off x="4667250" y="4191000"/>
            <a:ext cx="714375" cy="571500"/>
          </a:xfrm>
          <a:prstGeom xmlns:a="http://schemas.openxmlformats.org/drawingml/2006/main" prst="straightConnector1">
            <a:avLst/>
          </a:prstGeom>
          <a:ln xmlns:a="http://schemas.openxmlformats.org/drawingml/2006/main" w="28575">
            <a:solidFill>
              <a:srgbClr val="1769AA"/>
            </a:solidFill>
            <a:headEnd type="arrow" w="med" len="med"/>
            <a:tailEnd type="arrow" w="med" len="med"/>
          </a:ln>
        </p:spPr>
      </p:cxnSp>
      <p:cxnSp>
        <p:nvCxnSpPr>
          <p:cNvPr id="7" name="">
            <a:extLst xmlns:a="http://schemas.openxmlformats.org/drawingml/2006/main">
              <a:ext uri="{FF2B5EF4-FFF2-40B4-BE49-F238E27FC236}">
                <a16:creationId xmlns:a16="http://schemas.microsoft.com/office/drawing/2014/main" id="{DB454868-EA5A-4647-9036-D52E06DA6DF2}"/>
              </a:ext>
            </a:extLst>
          </p:cNvPr>
          <p:cNvCxnSpPr>
            <a:stCxn xmlns:a="http://schemas.openxmlformats.org/drawingml/2006/main" id="6" idx="3"/>
            <a:endCxn xmlns:a="http://schemas.openxmlformats.org/drawingml/2006/main" id="5" idx="1"/>
          </p:cNvCxnSpPr>
          <p:nvPr/>
        </p:nvCxnSpPr>
        <p:spPr>
          <a:xfrm xmlns:a="http://schemas.openxmlformats.org/drawingml/2006/main">
            <a:off x="4667250" y="2571750"/>
            <a:ext cx="714375" cy="1619250"/>
          </a:xfrm>
          <a:prstGeom xmlns:a="http://schemas.openxmlformats.org/drawingml/2006/main" prst="straightConnector1">
            <a:avLst/>
          </a:prstGeom>
          <a:ln xmlns:a="http://schemas.openxmlformats.org/drawingml/2006/main" w="28575">
            <a:solidFill>
              <a:srgbClr val="1769AA"/>
            </a:solidFill>
            <a:headEnd type="arrow" w="med" len="med"/>
            <a:tailEnd type="arrow" w="med" len="med"/>
          </a:ln>
        </p:spPr>
      </p:cxnSp>
      <p:sp>
        <p:nvSpPr>
          <p:cNvPr id="19" name="">
            <a:extLst xmlns:a="http://schemas.openxmlformats.org/drawingml/2006/main">
              <a:ext uri="{FF2B5EF4-FFF2-40B4-BE49-F238E27FC236}">
                <a16:creationId xmlns:a16="http://schemas.microsoft.com/office/drawing/2014/main" id="{7AD76B87-94CA-4742-8A6E-C7D4B609A87F}"/>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300" b="1">
                <a:solidFill>
                  <a:srgbClr val="102D49"/>
                </a:solidFill>
              </a:defRPr>
            </a:defPPr>
          </a:lstStyle>
          <a:p xmlns:a="http://schemas.openxmlformats.org/drawingml/2006/main">
            <a:pPr algn="l">
              <a:defRPr sz="3300" b="1">
                <a:solidFill>
                  <a:srgbClr val="102D49"/>
                </a:solidFill>
              </a:defRPr>
            </a:pPr>
            <a:r>
              <a:rPr sz="3300" b="1">
                <a:solidFill>
                  <a:srgbClr val="102D49"/>
                </a:solidFill>
              </a:rPr>
              <a:t>Integration with existing infrastructure</a:t>
            </a:r>
          </a:p>
        </p:txBody>
      </p:sp>
      <p:sp>
        <p:nvSpPr>
          <p:cNvPr id="2" name="">
            <a:extLst xmlns:a="http://schemas.openxmlformats.org/drawingml/2006/main">
              <a:ext uri="{FF2B5EF4-FFF2-40B4-BE49-F238E27FC236}">
                <a16:creationId xmlns:a16="http://schemas.microsoft.com/office/drawing/2014/main" id="{65CE9A72-A642-4293-BA53-D4D3263035EB}"/>
              </a:ext>
            </a:extLst>
          </p:cNvPr>
          <p:cNvSpPr>
            <a:spLocks xmlns:a="http://schemas.openxmlformats.org/drawingml/2006/main" noGrp="1"/>
          </p:cNvSpPr>
          <p:nvPr/>
        </p:nvSpPr>
        <p:spPr>
          <a:xfrm xmlns:a="http://schemas.openxmlformats.org/drawingml/2006/main">
            <a:off x="666750" y="1066800"/>
            <a:ext cx="1390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52677B"/>
                </a:solidFill>
              </a:defRPr>
            </a:defPPr>
          </a:lstStyle>
          <a:p xmlns:a="http://schemas.openxmlformats.org/drawingml/2006/main">
            <a:pPr algn="l">
              <a:defRPr sz="1800" b="0">
                <a:solidFill>
                  <a:srgbClr val="52677B"/>
                </a:solidFill>
              </a:defRPr>
            </a:pPr>
            <a:r>
              <a:rPr sz="1800" b="0">
                <a:solidFill>
                  <a:srgbClr val="52677B"/>
                </a:solidFill>
              </a:rPr>
              <a:t>Insurance AI connects through secure APIs and dedicated connectors</a:t>
            </a:r>
          </a:p>
        </p:txBody>
      </p:sp>
      <p:sp>
        <p:nvSpPr>
          <p:cNvPr id="3" name="">
            <a:extLst xmlns:a="http://schemas.openxmlformats.org/drawingml/2006/main">
              <a:ext uri="{FF2B5EF4-FFF2-40B4-BE49-F238E27FC236}">
                <a16:creationId xmlns:a16="http://schemas.microsoft.com/office/drawing/2014/main" id="{E0C542E4-B05D-410A-9D62-8795613093BA}"/>
              </a:ext>
            </a:extLst>
          </p:cNvPr>
          <p:cNvSpPr>
            <a:spLocks xmlns:a="http://schemas.openxmlformats.org/drawingml/2006/main" noGrp="1"/>
          </p:cNvSpPr>
          <p:nvPr/>
        </p:nvSpPr>
        <p:spPr>
          <a:xfrm xmlns:a="http://schemas.openxmlformats.org/drawingml/2006/main">
            <a:off x="666750" y="8143875"/>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52677B"/>
                </a:solidFill>
              </a:defRPr>
            </a:defPPr>
          </a:lstStyle>
          <a:p xmlns:a="http://schemas.openxmlformats.org/drawingml/2006/main">
            <a:pPr algn="l">
              <a:defRPr sz="1350" b="0">
                <a:solidFill>
                  <a:srgbClr val="52677B"/>
                </a:solidFill>
              </a:defRPr>
            </a:pPr>
            <a:r>
              <a:rPr sz="1350" b="0">
                <a:solidFill>
                  <a:srgbClr val="52677B"/>
                </a:solidFill>
              </a:rPr>
              <a:t>Insurance AI</a:t>
            </a:r>
          </a:p>
        </p:txBody>
      </p:sp>
      <p:sp>
        <p:nvSpPr>
          <p:cNvPr id="4" name="">
            <a:extLst xmlns:a="http://schemas.openxmlformats.org/drawingml/2006/main">
              <a:ext uri="{FF2B5EF4-FFF2-40B4-BE49-F238E27FC236}">
                <a16:creationId xmlns:a16="http://schemas.microsoft.com/office/drawing/2014/main" id="{08494366-8273-4437-9A8D-1D0A8A3BA632}"/>
              </a:ext>
            </a:extLst>
          </p:cNvPr>
          <p:cNvSpPr>
            <a:spLocks xmlns:a="http://schemas.openxmlformats.org/drawingml/2006/main" noGrp="1"/>
          </p:cNvSpPr>
          <p:nvPr/>
        </p:nvSpPr>
        <p:spPr>
          <a:xfrm xmlns:a="http://schemas.openxmlformats.org/drawingml/2006/main">
            <a:off x="13811250" y="80962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500" b="0">
                <a:solidFill>
                  <a:srgbClr val="52677B"/>
                </a:solidFill>
              </a:defRPr>
            </a:defPPr>
          </a:lstStyle>
          <a:p xmlns:a="http://schemas.openxmlformats.org/drawingml/2006/main">
            <a:pPr algn="r">
              <a:defRPr sz="1500" b="0">
                <a:solidFill>
                  <a:srgbClr val="52677B"/>
                </a:solidFill>
              </a:defRPr>
            </a:pPr>
            <a:r>
              <a:rPr sz="1500" b="0">
                <a:solidFill>
                  <a:srgbClr val="52677B"/>
                </a:solidFill>
              </a:rPr>
              <a:t>01</a:t>
            </a:r>
          </a:p>
        </p:txBody>
      </p:sp>
      <p:sp>
        <p:nvSpPr>
          <p:cNvPr id="5" name="">
            <a:extLst xmlns:a="http://schemas.openxmlformats.org/drawingml/2006/main">
              <a:ext uri="{FF2B5EF4-FFF2-40B4-BE49-F238E27FC236}">
                <a16:creationId xmlns:a16="http://schemas.microsoft.com/office/drawing/2014/main" id="{835FA1E4-F312-48D7-84A8-7351BAC175A7}"/>
              </a:ext>
            </a:extLst>
          </p:cNvPr>
          <p:cNvSpPr>
            <a:spLocks xmlns:a="http://schemas.openxmlformats.org/drawingml/2006/main" noGrp="1"/>
          </p:cNvSpPr>
          <p:nvPr/>
        </p:nvSpPr>
        <p:spPr>
          <a:xfrm xmlns:a="http://schemas.openxmlformats.org/drawingml/2006/main">
            <a:off x="5381625" y="2952750"/>
            <a:ext cx="4476750" cy="2476500"/>
          </a:xfrm>
          <a:prstGeom xmlns:a="http://schemas.openxmlformats.org/drawingml/2006/main" prst="roundRect">
            <a:avLst>
              <a:gd name="adj" fmla="val 3077"/>
            </a:avLst>
          </a:prstGeom>
          <a:solidFill xmlns:a="http://schemas.openxmlformats.org/drawingml/2006/main">
            <a:srgbClr val="102D49"/>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2400" b="1">
                <a:solidFill>
                  <a:srgbClr val="FFFFFF"/>
                </a:solidFill>
              </a:defRPr>
            </a:defPPr>
          </a:lstStyle>
          <a:p xmlns:a="http://schemas.openxmlformats.org/drawingml/2006/main">
            <a:pPr algn="ctr">
              <a:defRPr sz="2400" b="1">
                <a:solidFill>
                  <a:srgbClr val="FFFFFF"/>
                </a:solidFill>
              </a:defRPr>
            </a:pPr>
            <a:r>
              <a:rPr sz="2400" b="1">
                <a:solidFill>
                  <a:srgbClr val="FFFFFF"/>
                </a:solidFill>
              </a:rPr>
              <a:t>INSURANCE AI</a:t>
            </a:r>
          </a:p>
          <a:p xmlns:a="http://schemas.openxmlformats.org/drawingml/2006/main">
            <a:r>
              <a:t/>
            </a:r>
          </a:p>
          <a:p xmlns:a="http://schemas.openxmlformats.org/drawingml/2006/main">
            <a:pPr algn="ctr">
              <a:defRPr sz="2400" b="1">
                <a:solidFill>
                  <a:srgbClr val="FFFFFF"/>
                </a:solidFill>
              </a:defRPr>
            </a:pPr>
            <a:r>
              <a:rPr sz="2400" b="1">
                <a:solidFill>
                  <a:srgbClr val="FFFFFF"/>
                </a:solidFill>
              </a:rPr>
              <a:t>Underwriting, policies, claims</a:t>
            </a:r>
          </a:p>
          <a:p xmlns:a="http://schemas.openxmlformats.org/drawingml/2006/main">
            <a:pPr algn="ctr">
              <a:defRPr sz="2400" b="1">
                <a:solidFill>
                  <a:srgbClr val="FFFFFF"/>
                </a:solidFill>
              </a:defRPr>
            </a:pPr>
            <a:r>
              <a:rPr sz="2400" b="1">
                <a:solidFill>
                  <a:srgbClr val="FFFFFF"/>
                </a:solidFill>
              </a:rPr>
              <a:t>and commission workflows</a:t>
            </a:r>
          </a:p>
        </p:txBody>
      </p:sp>
      <p:sp>
        <p:nvSpPr>
          <p:cNvPr id="6" name="">
            <a:extLst xmlns:a="http://schemas.openxmlformats.org/drawingml/2006/main">
              <a:ext uri="{FF2B5EF4-FFF2-40B4-BE49-F238E27FC236}">
                <a16:creationId xmlns:a16="http://schemas.microsoft.com/office/drawing/2014/main" id="{4A852706-DD7F-47C7-94A2-E8032A108D6C}"/>
              </a:ext>
            </a:extLst>
          </p:cNvPr>
          <p:cNvSpPr>
            <a:spLocks xmlns:a="http://schemas.openxmlformats.org/drawingml/2006/main" noGrp="1"/>
          </p:cNvSpPr>
          <p:nvPr/>
        </p:nvSpPr>
        <p:spPr>
          <a:xfrm xmlns:a="http://schemas.openxmlformats.org/drawingml/2006/main">
            <a:off x="666750" y="2000250"/>
            <a:ext cx="4000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1">
                <a:solidFill>
                  <a:srgbClr val="102D49"/>
                </a:solidFill>
              </a:defRPr>
            </a:defPPr>
          </a:lstStyle>
          <a:p xmlns:a="http://schemas.openxmlformats.org/drawingml/2006/main">
            <a:pPr algn="ctr">
              <a:defRPr sz="1875" b="1">
                <a:solidFill>
                  <a:srgbClr val="102D49"/>
                </a:solidFill>
              </a:defRPr>
            </a:pPr>
            <a:r>
              <a:rPr sz="1875" b="1">
                <a:solidFill>
                  <a:srgbClr val="102D49"/>
                </a:solidFill>
              </a:rPr>
              <a:t>Existing CRM</a:t>
            </a:r>
          </a:p>
          <a:p xmlns:a="http://schemas.openxmlformats.org/drawingml/2006/main">
            <a:pPr algn="ctr">
              <a:defRPr sz="1875" b="1">
                <a:solidFill>
                  <a:srgbClr val="102D49"/>
                </a:solidFill>
              </a:defRPr>
            </a:pPr>
            <a:r>
              <a:rPr sz="1875" b="1">
                <a:solidFill>
                  <a:srgbClr val="102D49"/>
                </a:solidFill>
              </a:rPr>
              <a:t>Customer profiles and relationships</a:t>
            </a:r>
          </a:p>
        </p:txBody>
      </p:sp>
      <p:sp>
        <p:nvSpPr>
          <p:cNvPr id="8" name="">
            <a:extLst xmlns:a="http://schemas.openxmlformats.org/drawingml/2006/main">
              <a:ext uri="{FF2B5EF4-FFF2-40B4-BE49-F238E27FC236}">
                <a16:creationId xmlns:a16="http://schemas.microsoft.com/office/drawing/2014/main" id="{2F9D4B72-5C82-4335-B371-18DAA420CD2C}"/>
              </a:ext>
            </a:extLst>
          </p:cNvPr>
          <p:cNvSpPr>
            <a:spLocks xmlns:a="http://schemas.openxmlformats.org/drawingml/2006/main" noGrp="1"/>
          </p:cNvSpPr>
          <p:nvPr/>
        </p:nvSpPr>
        <p:spPr>
          <a:xfrm xmlns:a="http://schemas.openxmlformats.org/drawingml/2006/main">
            <a:off x="666750" y="4191000"/>
            <a:ext cx="4000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1">
                <a:solidFill>
                  <a:srgbClr val="102D49"/>
                </a:solidFill>
              </a:defRPr>
            </a:defPPr>
          </a:lstStyle>
          <a:p xmlns:a="http://schemas.openxmlformats.org/drawingml/2006/main">
            <a:pPr algn="ctr">
              <a:defRPr sz="1875" b="1">
                <a:solidFill>
                  <a:srgbClr val="102D49"/>
                </a:solidFill>
              </a:defRPr>
            </a:pPr>
            <a:r>
              <a:rPr sz="1875" b="1">
                <a:solidFill>
                  <a:srgbClr val="102D49"/>
                </a:solidFill>
              </a:rPr>
              <a:t>NADRA</a:t>
            </a:r>
          </a:p>
          <a:p xmlns:a="http://schemas.openxmlformats.org/drawingml/2006/main">
            <a:pPr algn="ctr">
              <a:defRPr sz="1875" b="1">
                <a:solidFill>
                  <a:srgbClr val="102D49"/>
                </a:solidFill>
              </a:defRPr>
            </a:pPr>
            <a:r>
              <a:rPr sz="1875" b="1">
                <a:solidFill>
                  <a:srgbClr val="102D49"/>
                </a:solidFill>
              </a:rPr>
              <a:t>Authorized identity verification</a:t>
            </a:r>
          </a:p>
        </p:txBody>
      </p:sp>
      <p:sp>
        <p:nvSpPr>
          <p:cNvPr id="10" name="">
            <a:extLst xmlns:a="http://schemas.openxmlformats.org/drawingml/2006/main">
              <a:ext uri="{FF2B5EF4-FFF2-40B4-BE49-F238E27FC236}">
                <a16:creationId xmlns:a16="http://schemas.microsoft.com/office/drawing/2014/main" id="{5FA6A17B-97A6-4556-B155-B0B9654C2DC8}"/>
              </a:ext>
            </a:extLst>
          </p:cNvPr>
          <p:cNvSpPr>
            <a:spLocks xmlns:a="http://schemas.openxmlformats.org/drawingml/2006/main" noGrp="1"/>
          </p:cNvSpPr>
          <p:nvPr/>
        </p:nvSpPr>
        <p:spPr>
          <a:xfrm xmlns:a="http://schemas.openxmlformats.org/drawingml/2006/main">
            <a:off x="666750" y="6381750"/>
            <a:ext cx="4000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1">
                <a:solidFill>
                  <a:srgbClr val="102D49"/>
                </a:solidFill>
              </a:defRPr>
            </a:defPPr>
          </a:lstStyle>
          <a:p xmlns:a="http://schemas.openxmlformats.org/drawingml/2006/main">
            <a:pPr algn="ctr">
              <a:defRPr sz="1875" b="1">
                <a:solidFill>
                  <a:srgbClr val="102D49"/>
                </a:solidFill>
              </a:defRPr>
            </a:pPr>
            <a:r>
              <a:rPr sz="1875" b="1">
                <a:solidFill>
                  <a:srgbClr val="102D49"/>
                </a:solidFill>
              </a:rPr>
              <a:t>Sanctions / PEP</a:t>
            </a:r>
          </a:p>
          <a:p xmlns:a="http://schemas.openxmlformats.org/drawingml/2006/main">
            <a:pPr algn="ctr">
              <a:defRPr sz="1875" b="1">
                <a:solidFill>
                  <a:srgbClr val="102D49"/>
                </a:solidFill>
              </a:defRPr>
            </a:pPr>
            <a:r>
              <a:rPr sz="1875" b="1">
                <a:solidFill>
                  <a:srgbClr val="102D49"/>
                </a:solidFill>
              </a:rPr>
              <a:t>Screening provider integration</a:t>
            </a:r>
          </a:p>
        </p:txBody>
      </p:sp>
      <p:sp>
        <p:nvSpPr>
          <p:cNvPr id="12" name="">
            <a:extLst xmlns:a="http://schemas.openxmlformats.org/drawingml/2006/main">
              <a:ext uri="{FF2B5EF4-FFF2-40B4-BE49-F238E27FC236}">
                <a16:creationId xmlns:a16="http://schemas.microsoft.com/office/drawing/2014/main" id="{67B388CF-D112-48AB-A91C-C10E12388C13}"/>
              </a:ext>
            </a:extLst>
          </p:cNvPr>
          <p:cNvSpPr>
            <a:spLocks xmlns:a="http://schemas.openxmlformats.org/drawingml/2006/main" noGrp="1"/>
          </p:cNvSpPr>
          <p:nvPr/>
        </p:nvSpPr>
        <p:spPr>
          <a:xfrm xmlns:a="http://schemas.openxmlformats.org/drawingml/2006/main">
            <a:off x="10572750" y="2000250"/>
            <a:ext cx="4000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1">
                <a:solidFill>
                  <a:srgbClr val="102D49"/>
                </a:solidFill>
              </a:defRPr>
            </a:defPPr>
          </a:lstStyle>
          <a:p xmlns:a="http://schemas.openxmlformats.org/drawingml/2006/main">
            <a:pPr algn="ctr">
              <a:defRPr sz="1875" b="1">
                <a:solidFill>
                  <a:srgbClr val="102D49"/>
                </a:solidFill>
              </a:defRPr>
            </a:pPr>
            <a:r>
              <a:rPr sz="1875" b="1">
                <a:solidFill>
                  <a:srgbClr val="102D49"/>
                </a:solidFill>
              </a:rPr>
              <a:t>Core insurance / ERP</a:t>
            </a:r>
          </a:p>
          <a:p xmlns:a="http://schemas.openxmlformats.org/drawingml/2006/main">
            <a:pPr algn="ctr">
              <a:defRPr sz="1875" b="1">
                <a:solidFill>
                  <a:srgbClr val="102D49"/>
                </a:solidFill>
              </a:defRPr>
            </a:pPr>
            <a:r>
              <a:rPr sz="1875" b="1">
                <a:solidFill>
                  <a:srgbClr val="102D49"/>
                </a:solidFill>
              </a:rPr>
              <a:t>Policy and finance systems</a:t>
            </a:r>
          </a:p>
        </p:txBody>
      </p:sp>
      <p:sp>
        <p:nvSpPr>
          <p:cNvPr id="14" name="">
            <a:extLst xmlns:a="http://schemas.openxmlformats.org/drawingml/2006/main">
              <a:ext uri="{FF2B5EF4-FFF2-40B4-BE49-F238E27FC236}">
                <a16:creationId xmlns:a16="http://schemas.microsoft.com/office/drawing/2014/main" id="{13E41ED7-0014-4B1C-BF9A-66BACC4A59CB}"/>
              </a:ext>
            </a:extLst>
          </p:cNvPr>
          <p:cNvSpPr>
            <a:spLocks xmlns:a="http://schemas.openxmlformats.org/drawingml/2006/main" noGrp="1"/>
          </p:cNvSpPr>
          <p:nvPr/>
        </p:nvSpPr>
        <p:spPr>
          <a:xfrm xmlns:a="http://schemas.openxmlformats.org/drawingml/2006/main">
            <a:off x="10572750" y="4191000"/>
            <a:ext cx="4000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1">
                <a:solidFill>
                  <a:srgbClr val="102D49"/>
                </a:solidFill>
              </a:defRPr>
            </a:defPPr>
          </a:lstStyle>
          <a:p xmlns:a="http://schemas.openxmlformats.org/drawingml/2006/main">
            <a:pPr algn="ctr">
              <a:defRPr sz="1875" b="1">
                <a:solidFill>
                  <a:srgbClr val="102D49"/>
                </a:solidFill>
              </a:defRPr>
            </a:pPr>
            <a:r>
              <a:rPr sz="1875" b="1">
                <a:solidFill>
                  <a:srgbClr val="102D49"/>
                </a:solidFill>
              </a:rPr>
              <a:t>Banks / payment gateways</a:t>
            </a:r>
          </a:p>
          <a:p xmlns:a="http://schemas.openxmlformats.org/drawingml/2006/main">
            <a:pPr algn="ctr">
              <a:defRPr sz="1875" b="1">
                <a:solidFill>
                  <a:srgbClr val="102D49"/>
                </a:solidFill>
              </a:defRPr>
            </a:pPr>
            <a:r>
              <a:rPr sz="1875" b="1">
                <a:solidFill>
                  <a:srgbClr val="102D49"/>
                </a:solidFill>
              </a:rPr>
              <a:t>Collections and payment status</a:t>
            </a:r>
          </a:p>
        </p:txBody>
      </p:sp>
      <p:sp>
        <p:nvSpPr>
          <p:cNvPr id="16" name="">
            <a:extLst xmlns:a="http://schemas.openxmlformats.org/drawingml/2006/main">
              <a:ext uri="{FF2B5EF4-FFF2-40B4-BE49-F238E27FC236}">
                <a16:creationId xmlns:a16="http://schemas.microsoft.com/office/drawing/2014/main" id="{FF8EF319-E874-4A69-A0CD-323AF140C91B}"/>
              </a:ext>
            </a:extLst>
          </p:cNvPr>
          <p:cNvSpPr>
            <a:spLocks xmlns:a="http://schemas.openxmlformats.org/drawingml/2006/main" noGrp="1"/>
          </p:cNvSpPr>
          <p:nvPr/>
        </p:nvSpPr>
        <p:spPr>
          <a:xfrm xmlns:a="http://schemas.openxmlformats.org/drawingml/2006/main">
            <a:off x="10572750" y="6381750"/>
            <a:ext cx="4000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1">
                <a:solidFill>
                  <a:srgbClr val="102D49"/>
                </a:solidFill>
              </a:defRPr>
            </a:defPPr>
          </a:lstStyle>
          <a:p xmlns:a="http://schemas.openxmlformats.org/drawingml/2006/main">
            <a:pPr algn="ctr">
              <a:defRPr sz="1875" b="1">
                <a:solidFill>
                  <a:srgbClr val="102D49"/>
                </a:solidFill>
              </a:defRPr>
            </a:pPr>
            <a:r>
              <a:rPr sz="1875" b="1">
                <a:solidFill>
                  <a:srgbClr val="102D49"/>
                </a:solidFill>
              </a:rPr>
              <a:t>Document / email systems</a:t>
            </a:r>
          </a:p>
          <a:p xmlns:a="http://schemas.openxmlformats.org/drawingml/2006/main">
            <a:pPr algn="ctr">
              <a:defRPr sz="1875" b="1">
                <a:solidFill>
                  <a:srgbClr val="102D49"/>
                </a:solidFill>
              </a:defRPr>
            </a:pPr>
            <a:r>
              <a:rPr sz="1875" b="1">
                <a:solidFill>
                  <a:srgbClr val="102D49"/>
                </a:solidFill>
              </a:rPr>
              <a:t>Evidence and communications</a:t>
            </a:r>
          </a:p>
        </p:txBody>
      </p:sp>
      <p:sp>
        <p:nvSpPr>
          <p:cNvPr id="18" name="">
            <a:extLst xmlns:a="http://schemas.openxmlformats.org/drawingml/2006/main">
              <a:ext uri="{FF2B5EF4-FFF2-40B4-BE49-F238E27FC236}">
                <a16:creationId xmlns:a16="http://schemas.microsoft.com/office/drawing/2014/main" id="{408ECFD2-9648-4CF0-9B01-77C05B005796}"/>
              </a:ext>
            </a:extLst>
          </p:cNvPr>
          <p:cNvSpPr>
            <a:spLocks xmlns:a="http://schemas.openxmlformats.org/drawingml/2006/main" noGrp="1"/>
          </p:cNvSpPr>
          <p:nvPr/>
        </p:nvSpPr>
        <p:spPr>
          <a:xfrm xmlns:a="http://schemas.openxmlformats.org/drawingml/2006/main">
            <a:off x="666750" y="7667625"/>
            <a:ext cx="1390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75" b="0">
                <a:solidFill>
                  <a:srgbClr val="52677B"/>
                </a:solidFill>
              </a:defRPr>
            </a:defPPr>
          </a:lstStyle>
          <a:p xmlns:a="http://schemas.openxmlformats.org/drawingml/2006/main">
            <a:pPr algn="l">
              <a:defRPr sz="1575" b="0">
                <a:solidFill>
                  <a:srgbClr val="52677B"/>
                </a:solidFill>
              </a:defRPr>
            </a:pPr>
            <a:r>
              <a:rPr sz="1575" b="0">
                <a:solidFill>
                  <a:srgbClr val="52677B"/>
                </a:solidFill>
              </a:rPr>
              <a:t>Connector setup and provider authorization required. External integrations shown are not all live today.</a:t>
            </a:r>
          </a:p>
        </p:txBody>
      </p:sp>
    </p:spTree>
    <p:extLst>
      <p:ext uri="{BB962C8B-B14F-4D97-AF65-F5344CB8AC3E}">
        <p14:creationId xmlns:p14="http://schemas.microsoft.com/office/powerpoint/2010/main" val="1468282794"/>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5760783-1E98-4BA7-87E2-62621C150C4B}"/>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300" b="1">
                <a:solidFill>
                  <a:srgbClr val="102D49"/>
                </a:solidFill>
              </a:defRPr>
            </a:defPPr>
          </a:lstStyle>
          <a:p xmlns:a="http://schemas.openxmlformats.org/drawingml/2006/main">
            <a:pPr algn="l">
              <a:defRPr sz="3300" b="1">
                <a:solidFill>
                  <a:srgbClr val="102D49"/>
                </a:solidFill>
              </a:defRPr>
            </a:pPr>
            <a:r>
              <a:rPr sz="3300" b="1">
                <a:solidFill>
                  <a:srgbClr val="102D49"/>
                </a:solidFill>
              </a:rPr>
              <a:t>Functional modules</a:t>
            </a:r>
          </a:p>
        </p:txBody>
      </p:sp>
      <p:sp>
        <p:nvSpPr>
          <p:cNvPr id="2" name="">
            <a:extLst xmlns:a="http://schemas.openxmlformats.org/drawingml/2006/main">
              <a:ext uri="{FF2B5EF4-FFF2-40B4-BE49-F238E27FC236}">
                <a16:creationId xmlns:a16="http://schemas.microsoft.com/office/drawing/2014/main" id="{A271D8D3-9CFC-4558-B520-8D4945942735}"/>
              </a:ext>
            </a:extLst>
          </p:cNvPr>
          <p:cNvSpPr>
            <a:spLocks xmlns:a="http://schemas.openxmlformats.org/drawingml/2006/main" noGrp="1"/>
          </p:cNvSpPr>
          <p:nvPr/>
        </p:nvSpPr>
        <p:spPr>
          <a:xfrm xmlns:a="http://schemas.openxmlformats.org/drawingml/2006/main">
            <a:off x="666750" y="1066800"/>
            <a:ext cx="1390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52677B"/>
                </a:solidFill>
              </a:defRPr>
            </a:defPPr>
          </a:lstStyle>
          <a:p xmlns:a="http://schemas.openxmlformats.org/drawingml/2006/main">
            <a:pPr algn="l">
              <a:defRPr sz="1800" b="0">
                <a:solidFill>
                  <a:srgbClr val="52677B"/>
                </a:solidFill>
              </a:defRPr>
            </a:pPr>
            <a:r>
              <a:rPr sz="1800" b="0">
                <a:solidFill>
                  <a:srgbClr val="52677B"/>
                </a:solidFill>
              </a:rPr>
              <a:t>15 existing functional areas, with Request Management planned as a separate module</a:t>
            </a:r>
          </a:p>
        </p:txBody>
      </p:sp>
      <p:sp>
        <p:nvSpPr>
          <p:cNvPr id="3" name="">
            <a:extLst xmlns:a="http://schemas.openxmlformats.org/drawingml/2006/main">
              <a:ext uri="{FF2B5EF4-FFF2-40B4-BE49-F238E27FC236}">
                <a16:creationId xmlns:a16="http://schemas.microsoft.com/office/drawing/2014/main" id="{6F69A482-E84B-4E01-AB54-63465893E82C}"/>
              </a:ext>
            </a:extLst>
          </p:cNvPr>
          <p:cNvSpPr>
            <a:spLocks xmlns:a="http://schemas.openxmlformats.org/drawingml/2006/main" noGrp="1"/>
          </p:cNvSpPr>
          <p:nvPr/>
        </p:nvSpPr>
        <p:spPr>
          <a:xfrm xmlns:a="http://schemas.openxmlformats.org/drawingml/2006/main">
            <a:off x="666750" y="8143875"/>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52677B"/>
                </a:solidFill>
              </a:defRPr>
            </a:defPPr>
          </a:lstStyle>
          <a:p xmlns:a="http://schemas.openxmlformats.org/drawingml/2006/main">
            <a:pPr algn="l">
              <a:defRPr sz="1350" b="0">
                <a:solidFill>
                  <a:srgbClr val="52677B"/>
                </a:solidFill>
              </a:defRPr>
            </a:pPr>
            <a:r>
              <a:rPr sz="1350" b="0">
                <a:solidFill>
                  <a:srgbClr val="52677B"/>
                </a:solidFill>
              </a:rPr>
              <a:t>Insurance AI</a:t>
            </a:r>
          </a:p>
        </p:txBody>
      </p:sp>
      <p:sp>
        <p:nvSpPr>
          <p:cNvPr id="4" name="">
            <a:extLst xmlns:a="http://schemas.openxmlformats.org/drawingml/2006/main">
              <a:ext uri="{FF2B5EF4-FFF2-40B4-BE49-F238E27FC236}">
                <a16:creationId xmlns:a16="http://schemas.microsoft.com/office/drawing/2014/main" id="{3274CF8A-55F2-4E70-B2F6-5F542203C247}"/>
              </a:ext>
            </a:extLst>
          </p:cNvPr>
          <p:cNvSpPr>
            <a:spLocks xmlns:a="http://schemas.openxmlformats.org/drawingml/2006/main" noGrp="1"/>
          </p:cNvSpPr>
          <p:nvPr/>
        </p:nvSpPr>
        <p:spPr>
          <a:xfrm xmlns:a="http://schemas.openxmlformats.org/drawingml/2006/main">
            <a:off x="13811250" y="80962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500" b="0">
                <a:solidFill>
                  <a:srgbClr val="52677B"/>
                </a:solidFill>
              </a:defRPr>
            </a:defPPr>
          </a:lstStyle>
          <a:p xmlns:a="http://schemas.openxmlformats.org/drawingml/2006/main">
            <a:pPr algn="r">
              <a:defRPr sz="1500" b="0">
                <a:solidFill>
                  <a:srgbClr val="52677B"/>
                </a:solidFill>
              </a:defRPr>
            </a:pPr>
            <a:r>
              <a:rPr sz="1500" b="0">
                <a:solidFill>
                  <a:srgbClr val="52677B"/>
                </a:solidFill>
              </a:rPr>
              <a:t>02</a:t>
            </a:r>
          </a:p>
        </p:txBody>
      </p:sp>
      <p:sp>
        <p:nvSpPr>
          <p:cNvPr id="5" name="">
            <a:extLst xmlns:a="http://schemas.openxmlformats.org/drawingml/2006/main">
              <a:ext uri="{FF2B5EF4-FFF2-40B4-BE49-F238E27FC236}">
                <a16:creationId xmlns:a16="http://schemas.microsoft.com/office/drawing/2014/main" id="{A8DEC671-0A2D-4394-8AA2-CCB5418BE37F}"/>
              </a:ext>
            </a:extLst>
          </p:cNvPr>
          <p:cNvSpPr>
            <a:spLocks xmlns:a="http://schemas.openxmlformats.org/drawingml/2006/main" noGrp="1"/>
          </p:cNvSpPr>
          <p:nvPr/>
        </p:nvSpPr>
        <p:spPr>
          <a:xfrm xmlns:a="http://schemas.openxmlformats.org/drawingml/2006/main">
            <a:off x="666750" y="1952625"/>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007F86"/>
                </a:solidFill>
              </a:defRPr>
            </a:defPPr>
          </a:lstStyle>
          <a:p xmlns:a="http://schemas.openxmlformats.org/drawingml/2006/main">
            <a:pPr algn="l">
              <a:defRPr sz="2175" b="1">
                <a:solidFill>
                  <a:srgbClr val="007F86"/>
                </a:solidFill>
              </a:defRPr>
            </a:pPr>
            <a:r>
              <a:rPr sz="2175" b="1">
                <a:solidFill>
                  <a:srgbClr val="007F86"/>
                </a:solidFill>
              </a:rPr>
              <a:t>Acquisition &amp; operations</a:t>
            </a:r>
          </a:p>
        </p:txBody>
      </p:sp>
      <p:sp>
        <p:nvSpPr>
          <p:cNvPr id="6" name="">
            <a:extLst xmlns:a="http://schemas.openxmlformats.org/drawingml/2006/main">
              <a:ext uri="{FF2B5EF4-FFF2-40B4-BE49-F238E27FC236}">
                <a16:creationId xmlns:a16="http://schemas.microsoft.com/office/drawing/2014/main" id="{E2F9E457-05A8-4A8E-ABA1-AB85BD90632C}"/>
              </a:ext>
            </a:extLst>
          </p:cNvPr>
          <p:cNvSpPr>
            <a:spLocks xmlns:a="http://schemas.openxmlformats.org/drawingml/2006/main" noGrp="1"/>
          </p:cNvSpPr>
          <p:nvPr/>
        </p:nvSpPr>
        <p:spPr>
          <a:xfrm xmlns:a="http://schemas.openxmlformats.org/drawingml/2006/main">
            <a:off x="666750" y="2762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01</a:t>
            </a:r>
          </a:p>
        </p:txBody>
      </p:sp>
      <p:sp>
        <p:nvSpPr>
          <p:cNvPr id="7" name="">
            <a:extLst xmlns:a="http://schemas.openxmlformats.org/drawingml/2006/main">
              <a:ext uri="{FF2B5EF4-FFF2-40B4-BE49-F238E27FC236}">
                <a16:creationId xmlns:a16="http://schemas.microsoft.com/office/drawing/2014/main" id="{FE021718-24AC-4E20-8F53-8C8F3A321591}"/>
              </a:ext>
            </a:extLst>
          </p:cNvPr>
          <p:cNvSpPr>
            <a:spLocks xmlns:a="http://schemas.openxmlformats.org/drawingml/2006/main" noGrp="1"/>
          </p:cNvSpPr>
          <p:nvPr/>
        </p:nvSpPr>
        <p:spPr>
          <a:xfrm xmlns:a="http://schemas.openxmlformats.org/drawingml/2006/main">
            <a:off x="1238250" y="2762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Customer &amp; lead management</a:t>
            </a:r>
          </a:p>
        </p:txBody>
      </p:sp>
      <p:sp>
        <p:nvSpPr>
          <p:cNvPr id="8" name="">
            <a:extLst xmlns:a="http://schemas.openxmlformats.org/drawingml/2006/main">
              <a:ext uri="{FF2B5EF4-FFF2-40B4-BE49-F238E27FC236}">
                <a16:creationId xmlns:a16="http://schemas.microsoft.com/office/drawing/2014/main" id="{32329330-38BD-4589-AFEB-98D4ADA02E8A}"/>
              </a:ext>
            </a:extLst>
          </p:cNvPr>
          <p:cNvSpPr>
            <a:spLocks xmlns:a="http://schemas.openxmlformats.org/drawingml/2006/main" noGrp="1"/>
          </p:cNvSpPr>
          <p:nvPr/>
        </p:nvSpPr>
        <p:spPr>
          <a:xfrm xmlns:a="http://schemas.openxmlformats.org/drawingml/2006/main">
            <a:off x="666750" y="3524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02</a:t>
            </a:r>
          </a:p>
        </p:txBody>
      </p:sp>
      <p:sp>
        <p:nvSpPr>
          <p:cNvPr id="9" name="">
            <a:extLst xmlns:a="http://schemas.openxmlformats.org/drawingml/2006/main">
              <a:ext uri="{FF2B5EF4-FFF2-40B4-BE49-F238E27FC236}">
                <a16:creationId xmlns:a16="http://schemas.microsoft.com/office/drawing/2014/main" id="{7D2D8AD5-D1D7-4676-B481-22AD60CC3A5E}"/>
              </a:ext>
            </a:extLst>
          </p:cNvPr>
          <p:cNvSpPr>
            <a:spLocks xmlns:a="http://schemas.openxmlformats.org/drawingml/2006/main" noGrp="1"/>
          </p:cNvSpPr>
          <p:nvPr/>
        </p:nvSpPr>
        <p:spPr>
          <a:xfrm xmlns:a="http://schemas.openxmlformats.org/drawingml/2006/main">
            <a:off x="1238250" y="3524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Applications &amp; proposals</a:t>
            </a:r>
          </a:p>
        </p:txBody>
      </p:sp>
      <p:sp>
        <p:nvSpPr>
          <p:cNvPr id="10" name="">
            <a:extLst xmlns:a="http://schemas.openxmlformats.org/drawingml/2006/main">
              <a:ext uri="{FF2B5EF4-FFF2-40B4-BE49-F238E27FC236}">
                <a16:creationId xmlns:a16="http://schemas.microsoft.com/office/drawing/2014/main" id="{0E3751E4-4DBA-4B70-AF3D-42E353FBA86F}"/>
              </a:ext>
            </a:extLst>
          </p:cNvPr>
          <p:cNvSpPr>
            <a:spLocks xmlns:a="http://schemas.openxmlformats.org/drawingml/2006/main" noGrp="1"/>
          </p:cNvSpPr>
          <p:nvPr/>
        </p:nvSpPr>
        <p:spPr>
          <a:xfrm xmlns:a="http://schemas.openxmlformats.org/drawingml/2006/main">
            <a:off x="666750" y="4286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03</a:t>
            </a:r>
          </a:p>
        </p:txBody>
      </p:sp>
      <p:sp>
        <p:nvSpPr>
          <p:cNvPr id="11" name="">
            <a:extLst xmlns:a="http://schemas.openxmlformats.org/drawingml/2006/main">
              <a:ext uri="{FF2B5EF4-FFF2-40B4-BE49-F238E27FC236}">
                <a16:creationId xmlns:a16="http://schemas.microsoft.com/office/drawing/2014/main" id="{9527BE88-37CE-4485-848D-2B8F20814A99}"/>
              </a:ext>
            </a:extLst>
          </p:cNvPr>
          <p:cNvSpPr>
            <a:spLocks xmlns:a="http://schemas.openxmlformats.org/drawingml/2006/main" noGrp="1"/>
          </p:cNvSpPr>
          <p:nvPr/>
        </p:nvSpPr>
        <p:spPr>
          <a:xfrm xmlns:a="http://schemas.openxmlformats.org/drawingml/2006/main">
            <a:off x="1238250" y="4286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Policy lifecycle management</a:t>
            </a:r>
          </a:p>
        </p:txBody>
      </p:sp>
      <p:sp>
        <p:nvSpPr>
          <p:cNvPr id="12" name="">
            <a:extLst xmlns:a="http://schemas.openxmlformats.org/drawingml/2006/main">
              <a:ext uri="{FF2B5EF4-FFF2-40B4-BE49-F238E27FC236}">
                <a16:creationId xmlns:a16="http://schemas.microsoft.com/office/drawing/2014/main" id="{EA1F1050-BA9C-4587-BCBE-5A88FADA3884}"/>
              </a:ext>
            </a:extLst>
          </p:cNvPr>
          <p:cNvSpPr>
            <a:spLocks xmlns:a="http://schemas.openxmlformats.org/drawingml/2006/main" noGrp="1"/>
          </p:cNvSpPr>
          <p:nvPr/>
        </p:nvSpPr>
        <p:spPr>
          <a:xfrm xmlns:a="http://schemas.openxmlformats.org/drawingml/2006/main">
            <a:off x="666750" y="5048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04</a:t>
            </a:r>
          </a:p>
        </p:txBody>
      </p:sp>
      <p:sp>
        <p:nvSpPr>
          <p:cNvPr id="13" name="">
            <a:extLst xmlns:a="http://schemas.openxmlformats.org/drawingml/2006/main">
              <a:ext uri="{FF2B5EF4-FFF2-40B4-BE49-F238E27FC236}">
                <a16:creationId xmlns:a16="http://schemas.microsoft.com/office/drawing/2014/main" id="{20D53C39-E6E8-4EA4-8EBE-DB284603F16F}"/>
              </a:ext>
            </a:extLst>
          </p:cNvPr>
          <p:cNvSpPr>
            <a:spLocks xmlns:a="http://schemas.openxmlformats.org/drawingml/2006/main" noGrp="1"/>
          </p:cNvSpPr>
          <p:nvPr/>
        </p:nvSpPr>
        <p:spPr>
          <a:xfrm xmlns:a="http://schemas.openxmlformats.org/drawingml/2006/main">
            <a:off x="1238250" y="5048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Premiums &amp; collections</a:t>
            </a:r>
          </a:p>
        </p:txBody>
      </p:sp>
      <p:sp>
        <p:nvSpPr>
          <p:cNvPr id="14" name="">
            <a:extLst xmlns:a="http://schemas.openxmlformats.org/drawingml/2006/main">
              <a:ext uri="{FF2B5EF4-FFF2-40B4-BE49-F238E27FC236}">
                <a16:creationId xmlns:a16="http://schemas.microsoft.com/office/drawing/2014/main" id="{E5EC44A7-CBBA-4EEE-8678-226ADA67F92A}"/>
              </a:ext>
            </a:extLst>
          </p:cNvPr>
          <p:cNvSpPr>
            <a:spLocks xmlns:a="http://schemas.openxmlformats.org/drawingml/2006/main" noGrp="1"/>
          </p:cNvSpPr>
          <p:nvPr/>
        </p:nvSpPr>
        <p:spPr>
          <a:xfrm xmlns:a="http://schemas.openxmlformats.org/drawingml/2006/main">
            <a:off x="666750" y="5810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05</a:t>
            </a:r>
          </a:p>
        </p:txBody>
      </p:sp>
      <p:sp>
        <p:nvSpPr>
          <p:cNvPr id="15" name="">
            <a:extLst xmlns:a="http://schemas.openxmlformats.org/drawingml/2006/main">
              <a:ext uri="{FF2B5EF4-FFF2-40B4-BE49-F238E27FC236}">
                <a16:creationId xmlns:a16="http://schemas.microsoft.com/office/drawing/2014/main" id="{674C29B6-DA71-4681-A881-FAA048698220}"/>
              </a:ext>
            </a:extLst>
          </p:cNvPr>
          <p:cNvSpPr>
            <a:spLocks xmlns:a="http://schemas.openxmlformats.org/drawingml/2006/main" noGrp="1"/>
          </p:cNvSpPr>
          <p:nvPr/>
        </p:nvSpPr>
        <p:spPr>
          <a:xfrm xmlns:a="http://schemas.openxmlformats.org/drawingml/2006/main">
            <a:off x="1238250" y="5810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Claims management</a:t>
            </a:r>
          </a:p>
        </p:txBody>
      </p:sp>
      <p:sp>
        <p:nvSpPr>
          <p:cNvPr id="16" name="">
            <a:extLst xmlns:a="http://schemas.openxmlformats.org/drawingml/2006/main">
              <a:ext uri="{FF2B5EF4-FFF2-40B4-BE49-F238E27FC236}">
                <a16:creationId xmlns:a16="http://schemas.microsoft.com/office/drawing/2014/main" id="{2E39C11A-C24D-4DD0-A23D-3FFDF35B917A}"/>
              </a:ext>
            </a:extLst>
          </p:cNvPr>
          <p:cNvSpPr>
            <a:spLocks xmlns:a="http://schemas.openxmlformats.org/drawingml/2006/main" noGrp="1"/>
          </p:cNvSpPr>
          <p:nvPr/>
        </p:nvSpPr>
        <p:spPr>
          <a:xfrm xmlns:a="http://schemas.openxmlformats.org/drawingml/2006/main">
            <a:off x="5429250" y="1952625"/>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007F86"/>
                </a:solidFill>
              </a:defRPr>
            </a:defPPr>
          </a:lstStyle>
          <a:p xmlns:a="http://schemas.openxmlformats.org/drawingml/2006/main">
            <a:pPr algn="l">
              <a:defRPr sz="2175" b="1">
                <a:solidFill>
                  <a:srgbClr val="007F86"/>
                </a:solidFill>
              </a:defRPr>
            </a:pPr>
            <a:r>
              <a:rPr sz="2175" b="1">
                <a:solidFill>
                  <a:srgbClr val="007F86"/>
                </a:solidFill>
              </a:rPr>
              <a:t>Intelligence &amp; decisions</a:t>
            </a:r>
          </a:p>
        </p:txBody>
      </p:sp>
      <p:sp>
        <p:nvSpPr>
          <p:cNvPr id="17" name="">
            <a:extLst xmlns:a="http://schemas.openxmlformats.org/drawingml/2006/main">
              <a:ext uri="{FF2B5EF4-FFF2-40B4-BE49-F238E27FC236}">
                <a16:creationId xmlns:a16="http://schemas.microsoft.com/office/drawing/2014/main" id="{30311EC3-22DF-4998-882C-F36D100A45A3}"/>
              </a:ext>
            </a:extLst>
          </p:cNvPr>
          <p:cNvSpPr>
            <a:spLocks xmlns:a="http://schemas.openxmlformats.org/drawingml/2006/main" noGrp="1"/>
          </p:cNvSpPr>
          <p:nvPr/>
        </p:nvSpPr>
        <p:spPr>
          <a:xfrm xmlns:a="http://schemas.openxmlformats.org/drawingml/2006/main">
            <a:off x="5429250" y="2762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06</a:t>
            </a:r>
          </a:p>
        </p:txBody>
      </p:sp>
      <p:sp>
        <p:nvSpPr>
          <p:cNvPr id="18" name="">
            <a:extLst xmlns:a="http://schemas.openxmlformats.org/drawingml/2006/main">
              <a:ext uri="{FF2B5EF4-FFF2-40B4-BE49-F238E27FC236}">
                <a16:creationId xmlns:a16="http://schemas.microsoft.com/office/drawing/2014/main" id="{64D01AA5-47F1-4A25-9575-15A6E0D7C484}"/>
              </a:ext>
            </a:extLst>
          </p:cNvPr>
          <p:cNvSpPr>
            <a:spLocks xmlns:a="http://schemas.openxmlformats.org/drawingml/2006/main" noGrp="1"/>
          </p:cNvSpPr>
          <p:nvPr/>
        </p:nvSpPr>
        <p:spPr>
          <a:xfrm xmlns:a="http://schemas.openxmlformats.org/drawingml/2006/main">
            <a:off x="6000750" y="2762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Underwriting</a:t>
            </a:r>
          </a:p>
        </p:txBody>
      </p:sp>
      <p:sp>
        <p:nvSpPr>
          <p:cNvPr id="19" name="">
            <a:extLst xmlns:a="http://schemas.openxmlformats.org/drawingml/2006/main">
              <a:ext uri="{FF2B5EF4-FFF2-40B4-BE49-F238E27FC236}">
                <a16:creationId xmlns:a16="http://schemas.microsoft.com/office/drawing/2014/main" id="{B0964346-1F46-426A-A2C1-B75F8F81DAE6}"/>
              </a:ext>
            </a:extLst>
          </p:cNvPr>
          <p:cNvSpPr>
            <a:spLocks xmlns:a="http://schemas.openxmlformats.org/drawingml/2006/main" noGrp="1"/>
          </p:cNvSpPr>
          <p:nvPr/>
        </p:nvSpPr>
        <p:spPr>
          <a:xfrm xmlns:a="http://schemas.openxmlformats.org/drawingml/2006/main">
            <a:off x="5429250" y="3524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07</a:t>
            </a:r>
          </a:p>
        </p:txBody>
      </p:sp>
      <p:sp>
        <p:nvSpPr>
          <p:cNvPr id="20" name="">
            <a:extLst xmlns:a="http://schemas.openxmlformats.org/drawingml/2006/main">
              <a:ext uri="{FF2B5EF4-FFF2-40B4-BE49-F238E27FC236}">
                <a16:creationId xmlns:a16="http://schemas.microsoft.com/office/drawing/2014/main" id="{A0201CE8-A005-4C63-BEE5-377A9D65B4EB}"/>
              </a:ext>
            </a:extLst>
          </p:cNvPr>
          <p:cNvSpPr>
            <a:spLocks xmlns:a="http://schemas.openxmlformats.org/drawingml/2006/main" noGrp="1"/>
          </p:cNvSpPr>
          <p:nvPr/>
        </p:nvSpPr>
        <p:spPr>
          <a:xfrm xmlns:a="http://schemas.openxmlformats.org/drawingml/2006/main">
            <a:off x="6000750" y="3524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Risk intelligence</a:t>
            </a:r>
          </a:p>
        </p:txBody>
      </p:sp>
      <p:sp>
        <p:nvSpPr>
          <p:cNvPr id="21" name="">
            <a:extLst xmlns:a="http://schemas.openxmlformats.org/drawingml/2006/main">
              <a:ext uri="{FF2B5EF4-FFF2-40B4-BE49-F238E27FC236}">
                <a16:creationId xmlns:a16="http://schemas.microsoft.com/office/drawing/2014/main" id="{06E041A8-5F98-4B39-BE38-8D42DA14D6C8}"/>
              </a:ext>
            </a:extLst>
          </p:cNvPr>
          <p:cNvSpPr>
            <a:spLocks xmlns:a="http://schemas.openxmlformats.org/drawingml/2006/main" noGrp="1"/>
          </p:cNvSpPr>
          <p:nvPr/>
        </p:nvSpPr>
        <p:spPr>
          <a:xfrm xmlns:a="http://schemas.openxmlformats.org/drawingml/2006/main">
            <a:off x="5429250" y="4286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08</a:t>
            </a:r>
          </a:p>
        </p:txBody>
      </p:sp>
      <p:sp>
        <p:nvSpPr>
          <p:cNvPr id="22" name="">
            <a:extLst xmlns:a="http://schemas.openxmlformats.org/drawingml/2006/main">
              <a:ext uri="{FF2B5EF4-FFF2-40B4-BE49-F238E27FC236}">
                <a16:creationId xmlns:a16="http://schemas.microsoft.com/office/drawing/2014/main" id="{6942E176-5251-47A1-844C-E31C05F79EEA}"/>
              </a:ext>
            </a:extLst>
          </p:cNvPr>
          <p:cNvSpPr>
            <a:spLocks xmlns:a="http://schemas.openxmlformats.org/drawingml/2006/main" noGrp="1"/>
          </p:cNvSpPr>
          <p:nvPr/>
        </p:nvSpPr>
        <p:spPr>
          <a:xfrm xmlns:a="http://schemas.openxmlformats.org/drawingml/2006/main">
            <a:off x="6000750" y="4286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Rules &amp; decision engine</a:t>
            </a:r>
          </a:p>
        </p:txBody>
      </p:sp>
      <p:sp>
        <p:nvSpPr>
          <p:cNvPr id="23" name="">
            <a:extLst xmlns:a="http://schemas.openxmlformats.org/drawingml/2006/main">
              <a:ext uri="{FF2B5EF4-FFF2-40B4-BE49-F238E27FC236}">
                <a16:creationId xmlns:a16="http://schemas.microsoft.com/office/drawing/2014/main" id="{2701C32A-C302-4EF2-8A40-08D7D7D7EF32}"/>
              </a:ext>
            </a:extLst>
          </p:cNvPr>
          <p:cNvSpPr>
            <a:spLocks xmlns:a="http://schemas.openxmlformats.org/drawingml/2006/main" noGrp="1"/>
          </p:cNvSpPr>
          <p:nvPr/>
        </p:nvSpPr>
        <p:spPr>
          <a:xfrm xmlns:a="http://schemas.openxmlformats.org/drawingml/2006/main">
            <a:off x="5429250" y="5048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09</a:t>
            </a:r>
          </a:p>
        </p:txBody>
      </p:sp>
      <p:sp>
        <p:nvSpPr>
          <p:cNvPr id="24" name="">
            <a:extLst xmlns:a="http://schemas.openxmlformats.org/drawingml/2006/main">
              <a:ext uri="{FF2B5EF4-FFF2-40B4-BE49-F238E27FC236}">
                <a16:creationId xmlns:a16="http://schemas.microsoft.com/office/drawing/2014/main" id="{88561C94-B76C-4997-98E6-ADFD3E1BD2F7}"/>
              </a:ext>
            </a:extLst>
          </p:cNvPr>
          <p:cNvSpPr>
            <a:spLocks xmlns:a="http://schemas.openxmlformats.org/drawingml/2006/main" noGrp="1"/>
          </p:cNvSpPr>
          <p:nvPr/>
        </p:nvSpPr>
        <p:spPr>
          <a:xfrm xmlns:a="http://schemas.openxmlformats.org/drawingml/2006/main">
            <a:off x="6000750" y="5048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Document intelligence</a:t>
            </a:r>
          </a:p>
        </p:txBody>
      </p:sp>
      <p:sp>
        <p:nvSpPr>
          <p:cNvPr id="25" name="">
            <a:extLst xmlns:a="http://schemas.openxmlformats.org/drawingml/2006/main">
              <a:ext uri="{FF2B5EF4-FFF2-40B4-BE49-F238E27FC236}">
                <a16:creationId xmlns:a16="http://schemas.microsoft.com/office/drawing/2014/main" id="{9D5FF45A-5389-4571-8C9B-545CC3CF25F1}"/>
              </a:ext>
            </a:extLst>
          </p:cNvPr>
          <p:cNvSpPr>
            <a:spLocks xmlns:a="http://schemas.openxmlformats.org/drawingml/2006/main" noGrp="1"/>
          </p:cNvSpPr>
          <p:nvPr/>
        </p:nvSpPr>
        <p:spPr>
          <a:xfrm xmlns:a="http://schemas.openxmlformats.org/drawingml/2006/main">
            <a:off x="5429250" y="5810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10</a:t>
            </a:r>
          </a:p>
        </p:txBody>
      </p:sp>
      <p:sp>
        <p:nvSpPr>
          <p:cNvPr id="26" name="">
            <a:extLst xmlns:a="http://schemas.openxmlformats.org/drawingml/2006/main">
              <a:ext uri="{FF2B5EF4-FFF2-40B4-BE49-F238E27FC236}">
                <a16:creationId xmlns:a16="http://schemas.microsoft.com/office/drawing/2014/main" id="{AFD1051A-1DDC-463D-AD3A-31E6548A0759}"/>
              </a:ext>
            </a:extLst>
          </p:cNvPr>
          <p:cNvSpPr>
            <a:spLocks xmlns:a="http://schemas.openxmlformats.org/drawingml/2006/main" noGrp="1"/>
          </p:cNvSpPr>
          <p:nvPr/>
        </p:nvSpPr>
        <p:spPr>
          <a:xfrm xmlns:a="http://schemas.openxmlformats.org/drawingml/2006/main">
            <a:off x="6000750" y="5810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Fraud intelligence</a:t>
            </a:r>
          </a:p>
        </p:txBody>
      </p:sp>
      <p:sp>
        <p:nvSpPr>
          <p:cNvPr id="27" name="">
            <a:extLst xmlns:a="http://schemas.openxmlformats.org/drawingml/2006/main">
              <a:ext uri="{FF2B5EF4-FFF2-40B4-BE49-F238E27FC236}">
                <a16:creationId xmlns:a16="http://schemas.microsoft.com/office/drawing/2014/main" id="{503207C8-B3CC-4B31-8324-BE6BA36942EB}"/>
              </a:ext>
            </a:extLst>
          </p:cNvPr>
          <p:cNvSpPr>
            <a:spLocks xmlns:a="http://schemas.openxmlformats.org/drawingml/2006/main" noGrp="1"/>
          </p:cNvSpPr>
          <p:nvPr/>
        </p:nvSpPr>
        <p:spPr>
          <a:xfrm xmlns:a="http://schemas.openxmlformats.org/drawingml/2006/main">
            <a:off x="10191750" y="1952625"/>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007F86"/>
                </a:solidFill>
              </a:defRPr>
            </a:defPPr>
          </a:lstStyle>
          <a:p xmlns:a="http://schemas.openxmlformats.org/drawingml/2006/main">
            <a:pPr algn="l">
              <a:defRPr sz="2175" b="1">
                <a:solidFill>
                  <a:srgbClr val="007F86"/>
                </a:solidFill>
              </a:defRPr>
            </a:pPr>
            <a:r>
              <a:rPr sz="2175" b="1">
                <a:solidFill>
                  <a:srgbClr val="007F86"/>
                </a:solidFill>
              </a:rPr>
              <a:t>Distribution &amp; platform</a:t>
            </a:r>
          </a:p>
        </p:txBody>
      </p:sp>
      <p:sp>
        <p:nvSpPr>
          <p:cNvPr id="28" name="">
            <a:extLst xmlns:a="http://schemas.openxmlformats.org/drawingml/2006/main">
              <a:ext uri="{FF2B5EF4-FFF2-40B4-BE49-F238E27FC236}">
                <a16:creationId xmlns:a16="http://schemas.microsoft.com/office/drawing/2014/main" id="{BCF58464-FEB5-4E86-8D48-B498C4AC85D7}"/>
              </a:ext>
            </a:extLst>
          </p:cNvPr>
          <p:cNvSpPr>
            <a:spLocks xmlns:a="http://schemas.openxmlformats.org/drawingml/2006/main" noGrp="1"/>
          </p:cNvSpPr>
          <p:nvPr/>
        </p:nvSpPr>
        <p:spPr>
          <a:xfrm xmlns:a="http://schemas.openxmlformats.org/drawingml/2006/main">
            <a:off x="10191750" y="2762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11</a:t>
            </a:r>
          </a:p>
        </p:txBody>
      </p:sp>
      <p:sp>
        <p:nvSpPr>
          <p:cNvPr id="29" name="">
            <a:extLst xmlns:a="http://schemas.openxmlformats.org/drawingml/2006/main">
              <a:ext uri="{FF2B5EF4-FFF2-40B4-BE49-F238E27FC236}">
                <a16:creationId xmlns:a16="http://schemas.microsoft.com/office/drawing/2014/main" id="{440A7BAC-B130-4E1F-8AC2-ED5E9E87F0A3}"/>
              </a:ext>
            </a:extLst>
          </p:cNvPr>
          <p:cNvSpPr>
            <a:spLocks xmlns:a="http://schemas.openxmlformats.org/drawingml/2006/main" noGrp="1"/>
          </p:cNvSpPr>
          <p:nvPr/>
        </p:nvSpPr>
        <p:spPr>
          <a:xfrm xmlns:a="http://schemas.openxmlformats.org/drawingml/2006/main">
            <a:off x="10763250" y="2762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Group &amp; family insurance</a:t>
            </a:r>
          </a:p>
        </p:txBody>
      </p:sp>
      <p:sp>
        <p:nvSpPr>
          <p:cNvPr id="30" name="">
            <a:extLst xmlns:a="http://schemas.openxmlformats.org/drawingml/2006/main">
              <a:ext uri="{FF2B5EF4-FFF2-40B4-BE49-F238E27FC236}">
                <a16:creationId xmlns:a16="http://schemas.microsoft.com/office/drawing/2014/main" id="{306A33E7-DCDF-4919-ADAD-A2EC9AAF91A0}"/>
              </a:ext>
            </a:extLst>
          </p:cNvPr>
          <p:cNvSpPr>
            <a:spLocks xmlns:a="http://schemas.openxmlformats.org/drawingml/2006/main" noGrp="1"/>
          </p:cNvSpPr>
          <p:nvPr/>
        </p:nvSpPr>
        <p:spPr>
          <a:xfrm xmlns:a="http://schemas.openxmlformats.org/drawingml/2006/main">
            <a:off x="10191750" y="3524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12</a:t>
            </a:r>
          </a:p>
        </p:txBody>
      </p:sp>
      <p:sp>
        <p:nvSpPr>
          <p:cNvPr id="31" name="">
            <a:extLst xmlns:a="http://schemas.openxmlformats.org/drawingml/2006/main">
              <a:ext uri="{FF2B5EF4-FFF2-40B4-BE49-F238E27FC236}">
                <a16:creationId xmlns:a16="http://schemas.microsoft.com/office/drawing/2014/main" id="{9361C380-6C56-4226-8A9A-7D553A903148}"/>
              </a:ext>
            </a:extLst>
          </p:cNvPr>
          <p:cNvSpPr>
            <a:spLocks xmlns:a="http://schemas.openxmlformats.org/drawingml/2006/main" noGrp="1"/>
          </p:cNvSpPr>
          <p:nvPr/>
        </p:nvSpPr>
        <p:spPr>
          <a:xfrm xmlns:a="http://schemas.openxmlformats.org/drawingml/2006/main">
            <a:off x="10763250" y="3524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Commission engine</a:t>
            </a:r>
          </a:p>
        </p:txBody>
      </p:sp>
      <p:sp>
        <p:nvSpPr>
          <p:cNvPr id="32" name="">
            <a:extLst xmlns:a="http://schemas.openxmlformats.org/drawingml/2006/main">
              <a:ext uri="{FF2B5EF4-FFF2-40B4-BE49-F238E27FC236}">
                <a16:creationId xmlns:a16="http://schemas.microsoft.com/office/drawing/2014/main" id="{091A721B-0DE4-4B8D-8651-E4135DFD881C}"/>
              </a:ext>
            </a:extLst>
          </p:cNvPr>
          <p:cNvSpPr>
            <a:spLocks xmlns:a="http://schemas.openxmlformats.org/drawingml/2006/main" noGrp="1"/>
          </p:cNvSpPr>
          <p:nvPr/>
        </p:nvSpPr>
        <p:spPr>
          <a:xfrm xmlns:a="http://schemas.openxmlformats.org/drawingml/2006/main">
            <a:off x="10191750" y="4286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13</a:t>
            </a:r>
          </a:p>
        </p:txBody>
      </p:sp>
      <p:sp>
        <p:nvSpPr>
          <p:cNvPr id="33" name="">
            <a:extLst xmlns:a="http://schemas.openxmlformats.org/drawingml/2006/main">
              <a:ext uri="{FF2B5EF4-FFF2-40B4-BE49-F238E27FC236}">
                <a16:creationId xmlns:a16="http://schemas.microsoft.com/office/drawing/2014/main" id="{294F2A51-491D-4E38-A00B-D6D7B6B9DA84}"/>
              </a:ext>
            </a:extLst>
          </p:cNvPr>
          <p:cNvSpPr>
            <a:spLocks xmlns:a="http://schemas.openxmlformats.org/drawingml/2006/main" noGrp="1"/>
          </p:cNvSpPr>
          <p:nvPr/>
        </p:nvSpPr>
        <p:spPr>
          <a:xfrm xmlns:a="http://schemas.openxmlformats.org/drawingml/2006/main">
            <a:off x="10763250" y="4286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Automation chat &amp; voice</a:t>
            </a:r>
          </a:p>
        </p:txBody>
      </p:sp>
      <p:sp>
        <p:nvSpPr>
          <p:cNvPr id="34" name="">
            <a:extLst xmlns:a="http://schemas.openxmlformats.org/drawingml/2006/main">
              <a:ext uri="{FF2B5EF4-FFF2-40B4-BE49-F238E27FC236}">
                <a16:creationId xmlns:a16="http://schemas.microsoft.com/office/drawing/2014/main" id="{4149FC07-88FD-43AF-9D18-A7592CBA2610}"/>
              </a:ext>
            </a:extLst>
          </p:cNvPr>
          <p:cNvSpPr>
            <a:spLocks xmlns:a="http://schemas.openxmlformats.org/drawingml/2006/main" noGrp="1"/>
          </p:cNvSpPr>
          <p:nvPr/>
        </p:nvSpPr>
        <p:spPr>
          <a:xfrm xmlns:a="http://schemas.openxmlformats.org/drawingml/2006/main">
            <a:off x="10191750" y="5048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14</a:t>
            </a:r>
          </a:p>
        </p:txBody>
      </p:sp>
      <p:sp>
        <p:nvSpPr>
          <p:cNvPr id="35" name="">
            <a:extLst xmlns:a="http://schemas.openxmlformats.org/drawingml/2006/main">
              <a:ext uri="{FF2B5EF4-FFF2-40B4-BE49-F238E27FC236}">
                <a16:creationId xmlns:a16="http://schemas.microsoft.com/office/drawing/2014/main" id="{ABC32B0D-5A53-4C9D-9FA7-784B409C02EC}"/>
              </a:ext>
            </a:extLst>
          </p:cNvPr>
          <p:cNvSpPr>
            <a:spLocks xmlns:a="http://schemas.openxmlformats.org/drawingml/2006/main" noGrp="1"/>
          </p:cNvSpPr>
          <p:nvPr/>
        </p:nvSpPr>
        <p:spPr>
          <a:xfrm xmlns:a="http://schemas.openxmlformats.org/drawingml/2006/main">
            <a:off x="10763250" y="5048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Dashboards &amp; reporting</a:t>
            </a:r>
          </a:p>
        </p:txBody>
      </p:sp>
      <p:sp>
        <p:nvSpPr>
          <p:cNvPr id="36" name="">
            <a:extLst xmlns:a="http://schemas.openxmlformats.org/drawingml/2006/main">
              <a:ext uri="{FF2B5EF4-FFF2-40B4-BE49-F238E27FC236}">
                <a16:creationId xmlns:a16="http://schemas.microsoft.com/office/drawing/2014/main" id="{88DF3974-ED30-4AD1-BE61-BC98361D71DE}"/>
              </a:ext>
            </a:extLst>
          </p:cNvPr>
          <p:cNvSpPr>
            <a:spLocks xmlns:a="http://schemas.openxmlformats.org/drawingml/2006/main" noGrp="1"/>
          </p:cNvSpPr>
          <p:nvPr/>
        </p:nvSpPr>
        <p:spPr>
          <a:xfrm xmlns:a="http://schemas.openxmlformats.org/drawingml/2006/main">
            <a:off x="10191750" y="581025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725" b="1">
                <a:solidFill>
                  <a:srgbClr val="1769AA"/>
                </a:solidFill>
              </a:defRPr>
            </a:defPPr>
          </a:lstStyle>
          <a:p xmlns:a="http://schemas.openxmlformats.org/drawingml/2006/main">
            <a:pPr algn="l">
              <a:defRPr sz="1725" b="1">
                <a:solidFill>
                  <a:srgbClr val="1769AA"/>
                </a:solidFill>
              </a:defRPr>
            </a:pPr>
            <a:r>
              <a:rPr sz="1725" b="1">
                <a:solidFill>
                  <a:srgbClr val="1769AA"/>
                </a:solidFill>
              </a:rPr>
              <a:t>15</a:t>
            </a:r>
          </a:p>
        </p:txBody>
      </p:sp>
      <p:sp>
        <p:nvSpPr>
          <p:cNvPr id="37" name="">
            <a:extLst xmlns:a="http://schemas.openxmlformats.org/drawingml/2006/main">
              <a:ext uri="{FF2B5EF4-FFF2-40B4-BE49-F238E27FC236}">
                <a16:creationId xmlns:a16="http://schemas.microsoft.com/office/drawing/2014/main" id="{E021A278-17D8-4E63-A2C9-FC05DC49D279}"/>
              </a:ext>
            </a:extLst>
          </p:cNvPr>
          <p:cNvSpPr>
            <a:spLocks xmlns:a="http://schemas.openxmlformats.org/drawingml/2006/main" noGrp="1"/>
          </p:cNvSpPr>
          <p:nvPr/>
        </p:nvSpPr>
        <p:spPr>
          <a:xfrm xmlns:a="http://schemas.openxmlformats.org/drawingml/2006/main">
            <a:off x="10763250" y="58102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02D49"/>
                </a:solidFill>
              </a:defRPr>
            </a:defPPr>
          </a:lstStyle>
          <a:p xmlns:a="http://schemas.openxmlformats.org/drawingml/2006/main">
            <a:pPr algn="l">
              <a:defRPr sz="2025" b="0">
                <a:solidFill>
                  <a:srgbClr val="102D49"/>
                </a:solidFill>
              </a:defRPr>
            </a:pPr>
            <a:r>
              <a:rPr sz="2025" b="0">
                <a:solidFill>
                  <a:srgbClr val="102D49"/>
                </a:solidFill>
              </a:rPr>
              <a:t>Platform administration</a:t>
            </a:r>
          </a:p>
        </p:txBody>
      </p:sp>
      <p:sp>
        <p:nvSpPr>
          <p:cNvPr id="38" name="">
            <a:extLst xmlns:a="http://schemas.openxmlformats.org/drawingml/2006/main">
              <a:ext uri="{FF2B5EF4-FFF2-40B4-BE49-F238E27FC236}">
                <a16:creationId xmlns:a16="http://schemas.microsoft.com/office/drawing/2014/main" id="{5E8E16F7-CA5E-42DC-BB99-6A5A2352CFE4}"/>
              </a:ext>
            </a:extLst>
          </p:cNvPr>
          <p:cNvSpPr>
            <a:spLocks xmlns:a="http://schemas.openxmlformats.org/drawingml/2006/main" noGrp="1"/>
          </p:cNvSpPr>
          <p:nvPr/>
        </p:nvSpPr>
        <p:spPr>
          <a:xfrm xmlns:a="http://schemas.openxmlformats.org/drawingml/2006/main">
            <a:off x="666750" y="6934200"/>
            <a:ext cx="1390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007F86"/>
                </a:solidFill>
              </a:defRPr>
            </a:defPPr>
          </a:lstStyle>
          <a:p xmlns:a="http://schemas.openxmlformats.org/drawingml/2006/main">
            <a:pPr algn="l">
              <a:defRPr sz="2175" b="1">
                <a:solidFill>
                  <a:srgbClr val="007F86"/>
                </a:solidFill>
              </a:defRPr>
            </a:pPr>
            <a:r>
              <a:rPr sz="2175" b="1">
                <a:solidFill>
                  <a:srgbClr val="007F86"/>
                </a:solidFill>
              </a:rPr>
              <a:t>Planned: Request Management</a:t>
            </a:r>
          </a:p>
        </p:txBody>
      </p:sp>
      <p:sp>
        <p:nvSpPr>
          <p:cNvPr id="39" name="">
            <a:extLst xmlns:a="http://schemas.openxmlformats.org/drawingml/2006/main">
              <a:ext uri="{FF2B5EF4-FFF2-40B4-BE49-F238E27FC236}">
                <a16:creationId xmlns:a16="http://schemas.microsoft.com/office/drawing/2014/main" id="{084AF43C-482A-46CE-B602-36F7530AFD74}"/>
              </a:ext>
            </a:extLst>
          </p:cNvPr>
          <p:cNvSpPr>
            <a:spLocks xmlns:a="http://schemas.openxmlformats.org/drawingml/2006/main" noGrp="1"/>
          </p:cNvSpPr>
          <p:nvPr/>
        </p:nvSpPr>
        <p:spPr>
          <a:xfrm xmlns:a="http://schemas.openxmlformats.org/drawingml/2006/main">
            <a:off x="666750" y="7591425"/>
            <a:ext cx="1390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75" b="0">
                <a:solidFill>
                  <a:srgbClr val="52677B"/>
                </a:solidFill>
              </a:defRPr>
            </a:defPPr>
          </a:lstStyle>
          <a:p xmlns:a="http://schemas.openxmlformats.org/drawingml/2006/main">
            <a:pPr algn="l">
              <a:defRPr sz="1575" b="0">
                <a:solidFill>
                  <a:srgbClr val="52677B"/>
                </a:solidFill>
              </a:defRPr>
            </a:pPr>
            <a:r>
              <a:rPr sz="1575" b="0">
                <a:solidFill>
                  <a:srgbClr val="52677B"/>
                </a:solidFill>
              </a:rPr>
              <a:t>Implementation maturity varies. Commission is partial, and some dashboard/reporting views use illustrative data.</a:t>
            </a:r>
          </a:p>
        </p:txBody>
      </p:sp>
    </p:spTree>
    <p:extLst>
      <p:ext uri="{BB962C8B-B14F-4D97-AF65-F5344CB8AC3E}">
        <p14:creationId xmlns:p14="http://schemas.microsoft.com/office/powerpoint/2010/main" val="1896281283"/>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8" name="">
            <a:extLst xmlns:a="http://schemas.openxmlformats.org/drawingml/2006/main">
              <a:ext uri="{FF2B5EF4-FFF2-40B4-BE49-F238E27FC236}">
                <a16:creationId xmlns:a16="http://schemas.microsoft.com/office/drawing/2014/main" id="{1C4073A1-1D20-42D6-9430-7277ED3A9BA5}"/>
              </a:ext>
            </a:extLst>
          </p:cNvPr>
          <p:cNvCxnSpPr>
            <a:stCxn xmlns:a="http://schemas.openxmlformats.org/drawingml/2006/main" id="35" idx="2"/>
            <a:endCxn xmlns:a="http://schemas.openxmlformats.org/drawingml/2006/main" id="37" idx="0"/>
          </p:cNvCxnSpPr>
          <p:nvPr/>
        </p:nvCxnSpPr>
        <p:spPr>
          <a:xfrm xmlns:a="http://schemas.openxmlformats.org/drawingml/2006/main">
            <a:off x="12549188" y="6124575"/>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36" name="">
            <a:extLst xmlns:a="http://schemas.openxmlformats.org/drawingml/2006/main">
              <a:ext uri="{FF2B5EF4-FFF2-40B4-BE49-F238E27FC236}">
                <a16:creationId xmlns:a16="http://schemas.microsoft.com/office/drawing/2014/main" id="{85D28334-1DB6-40DB-A704-A4B8F2C72019}"/>
              </a:ext>
            </a:extLst>
          </p:cNvPr>
          <p:cNvCxnSpPr>
            <a:stCxn xmlns:a="http://schemas.openxmlformats.org/drawingml/2006/main" id="33" idx="2"/>
            <a:endCxn xmlns:a="http://schemas.openxmlformats.org/drawingml/2006/main" id="35" idx="0"/>
          </p:cNvCxnSpPr>
          <p:nvPr/>
        </p:nvCxnSpPr>
        <p:spPr>
          <a:xfrm xmlns:a="http://schemas.openxmlformats.org/drawingml/2006/main">
            <a:off x="12549188" y="5324475"/>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34" name="">
            <a:extLst xmlns:a="http://schemas.openxmlformats.org/drawingml/2006/main">
              <a:ext uri="{FF2B5EF4-FFF2-40B4-BE49-F238E27FC236}">
                <a16:creationId xmlns:a16="http://schemas.microsoft.com/office/drawing/2014/main" id="{B8B6B956-3743-46C8-967D-8F82C1CCEAC1}"/>
              </a:ext>
            </a:extLst>
          </p:cNvPr>
          <p:cNvCxnSpPr>
            <a:stCxn xmlns:a="http://schemas.openxmlformats.org/drawingml/2006/main" id="31" idx="2"/>
            <a:endCxn xmlns:a="http://schemas.openxmlformats.org/drawingml/2006/main" id="33" idx="0"/>
          </p:cNvCxnSpPr>
          <p:nvPr/>
        </p:nvCxnSpPr>
        <p:spPr>
          <a:xfrm xmlns:a="http://schemas.openxmlformats.org/drawingml/2006/main">
            <a:off x="12549188" y="40386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32" name="">
            <a:extLst xmlns:a="http://schemas.openxmlformats.org/drawingml/2006/main">
              <a:ext uri="{FF2B5EF4-FFF2-40B4-BE49-F238E27FC236}">
                <a16:creationId xmlns:a16="http://schemas.microsoft.com/office/drawing/2014/main" id="{94C2885A-49E4-4EA8-9664-AEA7EE5F280C}"/>
              </a:ext>
            </a:extLst>
          </p:cNvPr>
          <p:cNvCxnSpPr>
            <a:stCxn xmlns:a="http://schemas.openxmlformats.org/drawingml/2006/main" id="30" idx="2"/>
            <a:endCxn xmlns:a="http://schemas.openxmlformats.org/drawingml/2006/main" id="31" idx="0"/>
          </p:cNvCxnSpPr>
          <p:nvPr/>
        </p:nvCxnSpPr>
        <p:spPr>
          <a:xfrm xmlns:a="http://schemas.openxmlformats.org/drawingml/2006/main">
            <a:off x="12549188" y="32385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28" name="">
            <a:extLst xmlns:a="http://schemas.openxmlformats.org/drawingml/2006/main">
              <a:ext uri="{FF2B5EF4-FFF2-40B4-BE49-F238E27FC236}">
                <a16:creationId xmlns:a16="http://schemas.microsoft.com/office/drawing/2014/main" id="{B9F05F97-D20D-4637-A9A6-343597414078}"/>
              </a:ext>
            </a:extLst>
          </p:cNvPr>
          <p:cNvCxnSpPr>
            <a:stCxn xmlns:a="http://schemas.openxmlformats.org/drawingml/2006/main" id="25" idx="2"/>
            <a:endCxn xmlns:a="http://schemas.openxmlformats.org/drawingml/2006/main" id="27" idx="0"/>
          </p:cNvCxnSpPr>
          <p:nvPr/>
        </p:nvCxnSpPr>
        <p:spPr>
          <a:xfrm xmlns:a="http://schemas.openxmlformats.org/drawingml/2006/main">
            <a:off x="7691438" y="64389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26" name="">
            <a:extLst xmlns:a="http://schemas.openxmlformats.org/drawingml/2006/main">
              <a:ext uri="{FF2B5EF4-FFF2-40B4-BE49-F238E27FC236}">
                <a16:creationId xmlns:a16="http://schemas.microsoft.com/office/drawing/2014/main" id="{CC25CF3F-006E-45F3-8A44-4A06F62ECA36}"/>
              </a:ext>
            </a:extLst>
          </p:cNvPr>
          <p:cNvCxnSpPr>
            <a:stCxn xmlns:a="http://schemas.openxmlformats.org/drawingml/2006/main" id="23" idx="2"/>
            <a:endCxn xmlns:a="http://schemas.openxmlformats.org/drawingml/2006/main" id="25" idx="0"/>
          </p:cNvCxnSpPr>
          <p:nvPr/>
        </p:nvCxnSpPr>
        <p:spPr>
          <a:xfrm xmlns:a="http://schemas.openxmlformats.org/drawingml/2006/main">
            <a:off x="7691438" y="56388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24" name="">
            <a:extLst xmlns:a="http://schemas.openxmlformats.org/drawingml/2006/main">
              <a:ext uri="{FF2B5EF4-FFF2-40B4-BE49-F238E27FC236}">
                <a16:creationId xmlns:a16="http://schemas.microsoft.com/office/drawing/2014/main" id="{6D089834-15E4-4689-8CEB-E8E0EDA29B6D}"/>
              </a:ext>
            </a:extLst>
          </p:cNvPr>
          <p:cNvCxnSpPr>
            <a:stCxn xmlns:a="http://schemas.openxmlformats.org/drawingml/2006/main" id="21" idx="2"/>
            <a:endCxn xmlns:a="http://schemas.openxmlformats.org/drawingml/2006/main" id="23" idx="0"/>
          </p:cNvCxnSpPr>
          <p:nvPr/>
        </p:nvCxnSpPr>
        <p:spPr>
          <a:xfrm xmlns:a="http://schemas.openxmlformats.org/drawingml/2006/main">
            <a:off x="7691438" y="48387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22" name="">
            <a:extLst xmlns:a="http://schemas.openxmlformats.org/drawingml/2006/main">
              <a:ext uri="{FF2B5EF4-FFF2-40B4-BE49-F238E27FC236}">
                <a16:creationId xmlns:a16="http://schemas.microsoft.com/office/drawing/2014/main" id="{7E444443-195A-4D42-8436-71DAC397F201}"/>
              </a:ext>
            </a:extLst>
          </p:cNvPr>
          <p:cNvCxnSpPr>
            <a:stCxn xmlns:a="http://schemas.openxmlformats.org/drawingml/2006/main" id="19" idx="2"/>
            <a:endCxn xmlns:a="http://schemas.openxmlformats.org/drawingml/2006/main" id="21" idx="0"/>
          </p:cNvCxnSpPr>
          <p:nvPr/>
        </p:nvCxnSpPr>
        <p:spPr>
          <a:xfrm xmlns:a="http://schemas.openxmlformats.org/drawingml/2006/main">
            <a:off x="7691438" y="40386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20" name="">
            <a:extLst xmlns:a="http://schemas.openxmlformats.org/drawingml/2006/main">
              <a:ext uri="{FF2B5EF4-FFF2-40B4-BE49-F238E27FC236}">
                <a16:creationId xmlns:a16="http://schemas.microsoft.com/office/drawing/2014/main" id="{9D7FB68F-49E9-4132-B255-AFE0F0DFACBB}"/>
              </a:ext>
            </a:extLst>
          </p:cNvPr>
          <p:cNvCxnSpPr>
            <a:stCxn xmlns:a="http://schemas.openxmlformats.org/drawingml/2006/main" id="18" idx="2"/>
            <a:endCxn xmlns:a="http://schemas.openxmlformats.org/drawingml/2006/main" id="19" idx="0"/>
          </p:cNvCxnSpPr>
          <p:nvPr/>
        </p:nvCxnSpPr>
        <p:spPr>
          <a:xfrm xmlns:a="http://schemas.openxmlformats.org/drawingml/2006/main">
            <a:off x="7691438" y="32385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16" name="">
            <a:extLst xmlns:a="http://schemas.openxmlformats.org/drawingml/2006/main">
              <a:ext uri="{FF2B5EF4-FFF2-40B4-BE49-F238E27FC236}">
                <a16:creationId xmlns:a16="http://schemas.microsoft.com/office/drawing/2014/main" id="{8C1113E3-2CD7-4539-8F43-5985D43831FA}"/>
              </a:ext>
            </a:extLst>
          </p:cNvPr>
          <p:cNvCxnSpPr>
            <a:stCxn xmlns:a="http://schemas.openxmlformats.org/drawingml/2006/main" id="13" idx="2"/>
            <a:endCxn xmlns:a="http://schemas.openxmlformats.org/drawingml/2006/main" id="15" idx="0"/>
          </p:cNvCxnSpPr>
          <p:nvPr/>
        </p:nvCxnSpPr>
        <p:spPr>
          <a:xfrm xmlns:a="http://schemas.openxmlformats.org/drawingml/2006/main">
            <a:off x="2833688" y="64389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14" name="">
            <a:extLst xmlns:a="http://schemas.openxmlformats.org/drawingml/2006/main">
              <a:ext uri="{FF2B5EF4-FFF2-40B4-BE49-F238E27FC236}">
                <a16:creationId xmlns:a16="http://schemas.microsoft.com/office/drawing/2014/main" id="{5B5584DA-ADF1-4A3C-8FFA-831F14FC5F93}"/>
              </a:ext>
            </a:extLst>
          </p:cNvPr>
          <p:cNvCxnSpPr>
            <a:stCxn xmlns:a="http://schemas.openxmlformats.org/drawingml/2006/main" id="11" idx="2"/>
            <a:endCxn xmlns:a="http://schemas.openxmlformats.org/drawingml/2006/main" id="13" idx="0"/>
          </p:cNvCxnSpPr>
          <p:nvPr/>
        </p:nvCxnSpPr>
        <p:spPr>
          <a:xfrm xmlns:a="http://schemas.openxmlformats.org/drawingml/2006/main">
            <a:off x="2833688" y="56388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12" name="">
            <a:extLst xmlns:a="http://schemas.openxmlformats.org/drawingml/2006/main">
              <a:ext uri="{FF2B5EF4-FFF2-40B4-BE49-F238E27FC236}">
                <a16:creationId xmlns:a16="http://schemas.microsoft.com/office/drawing/2014/main" id="{18D1B459-C1EE-44D0-8D47-A73F06E488DD}"/>
              </a:ext>
            </a:extLst>
          </p:cNvPr>
          <p:cNvCxnSpPr>
            <a:stCxn xmlns:a="http://schemas.openxmlformats.org/drawingml/2006/main" id="9" idx="2"/>
            <a:endCxn xmlns:a="http://schemas.openxmlformats.org/drawingml/2006/main" id="11" idx="0"/>
          </p:cNvCxnSpPr>
          <p:nvPr/>
        </p:nvCxnSpPr>
        <p:spPr>
          <a:xfrm xmlns:a="http://schemas.openxmlformats.org/drawingml/2006/main">
            <a:off x="2833688" y="48387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10" name="">
            <a:extLst xmlns:a="http://schemas.openxmlformats.org/drawingml/2006/main">
              <a:ext uri="{FF2B5EF4-FFF2-40B4-BE49-F238E27FC236}">
                <a16:creationId xmlns:a16="http://schemas.microsoft.com/office/drawing/2014/main" id="{883F7768-6690-4CE5-B9A5-6FE3D92A91A9}"/>
              </a:ext>
            </a:extLst>
          </p:cNvPr>
          <p:cNvCxnSpPr>
            <a:stCxn xmlns:a="http://schemas.openxmlformats.org/drawingml/2006/main" id="7" idx="2"/>
            <a:endCxn xmlns:a="http://schemas.openxmlformats.org/drawingml/2006/main" id="9" idx="0"/>
          </p:cNvCxnSpPr>
          <p:nvPr/>
        </p:nvCxnSpPr>
        <p:spPr>
          <a:xfrm xmlns:a="http://schemas.openxmlformats.org/drawingml/2006/main">
            <a:off x="2833688" y="40386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cxnSp>
        <p:nvCxnSpPr>
          <p:cNvPr id="8" name="">
            <a:extLst xmlns:a="http://schemas.openxmlformats.org/drawingml/2006/main">
              <a:ext uri="{FF2B5EF4-FFF2-40B4-BE49-F238E27FC236}">
                <a16:creationId xmlns:a16="http://schemas.microsoft.com/office/drawing/2014/main" id="{8BE125A5-A568-4E9F-8F8A-9CDE915B844B}"/>
              </a:ext>
            </a:extLst>
          </p:cNvPr>
          <p:cNvCxnSpPr>
            <a:stCxn xmlns:a="http://schemas.openxmlformats.org/drawingml/2006/main" id="6" idx="2"/>
            <a:endCxn xmlns:a="http://schemas.openxmlformats.org/drawingml/2006/main" id="7" idx="0"/>
          </p:cNvCxnSpPr>
          <p:nvPr/>
        </p:nvCxnSpPr>
        <p:spPr>
          <a:xfrm xmlns:a="http://schemas.openxmlformats.org/drawingml/2006/main">
            <a:off x="2833688" y="3238500"/>
            <a:ext cx="0" cy="180975"/>
          </a:xfrm>
          <a:prstGeom xmlns:a="http://schemas.openxmlformats.org/drawingml/2006/main" prst="straightConnector1">
            <a:avLst/>
          </a:prstGeom>
          <a:ln xmlns:a="http://schemas.openxmlformats.org/drawingml/2006/main" w="28575">
            <a:solidFill>
              <a:srgbClr val="1769AA"/>
            </a:solidFill>
            <a:tailEnd type="arrow" w="med" len="med"/>
          </a:ln>
        </p:spPr>
      </p:cxnSp>
      <p:sp>
        <p:nvSpPr>
          <p:cNvPr id="40" name="">
            <a:extLst xmlns:a="http://schemas.openxmlformats.org/drawingml/2006/main">
              <a:ext uri="{FF2B5EF4-FFF2-40B4-BE49-F238E27FC236}">
                <a16:creationId xmlns:a16="http://schemas.microsoft.com/office/drawing/2014/main" id="{67938030-B69A-42AB-9A13-03E4E155F1F9}"/>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300" b="1">
                <a:solidFill>
                  <a:srgbClr val="102D49"/>
                </a:solidFill>
              </a:defRPr>
            </a:defPPr>
          </a:lstStyle>
          <a:p xmlns:a="http://schemas.openxmlformats.org/drawingml/2006/main">
            <a:pPr algn="l">
              <a:defRPr sz="3300" b="1">
                <a:solidFill>
                  <a:srgbClr val="102D49"/>
                </a:solidFill>
              </a:defRPr>
            </a:pPr>
            <a:r>
              <a:rPr sz="3300" b="1">
                <a:solidFill>
                  <a:srgbClr val="102D49"/>
                </a:solidFill>
              </a:rPr>
              <a:t>Insurance workflow shared by Faraz sb</a:t>
            </a:r>
          </a:p>
        </p:txBody>
      </p:sp>
      <p:sp>
        <p:nvSpPr>
          <p:cNvPr id="2" name="">
            <a:extLst xmlns:a="http://schemas.openxmlformats.org/drawingml/2006/main">
              <a:ext uri="{FF2B5EF4-FFF2-40B4-BE49-F238E27FC236}">
                <a16:creationId xmlns:a16="http://schemas.microsoft.com/office/drawing/2014/main" id="{226DC30C-EFAB-4309-9D45-2B4C22407746}"/>
              </a:ext>
            </a:extLst>
          </p:cNvPr>
          <p:cNvSpPr>
            <a:spLocks xmlns:a="http://schemas.openxmlformats.org/drawingml/2006/main" noGrp="1"/>
          </p:cNvSpPr>
          <p:nvPr/>
        </p:nvSpPr>
        <p:spPr>
          <a:xfrm xmlns:a="http://schemas.openxmlformats.org/drawingml/2006/main">
            <a:off x="666750" y="1066800"/>
            <a:ext cx="1390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52677B"/>
                </a:solidFill>
              </a:defRPr>
            </a:defPPr>
          </a:lstStyle>
          <a:p xmlns:a="http://schemas.openxmlformats.org/drawingml/2006/main">
            <a:pPr algn="l">
              <a:defRPr sz="1800" b="0">
                <a:solidFill>
                  <a:srgbClr val="52677B"/>
                </a:solidFill>
              </a:defRPr>
            </a:pPr>
            <a:r>
              <a:rPr sz="1800" b="0">
                <a:solidFill>
                  <a:srgbClr val="52677B"/>
                </a:solidFill>
              </a:rPr>
              <a:t>Sequence as shared, from lead generation through policy closure</a:t>
            </a:r>
          </a:p>
        </p:txBody>
      </p:sp>
      <p:sp>
        <p:nvSpPr>
          <p:cNvPr id="3" name="">
            <a:extLst xmlns:a="http://schemas.openxmlformats.org/drawingml/2006/main">
              <a:ext uri="{FF2B5EF4-FFF2-40B4-BE49-F238E27FC236}">
                <a16:creationId xmlns:a16="http://schemas.microsoft.com/office/drawing/2014/main" id="{1EB81A93-E0E6-4286-A6C7-3404AA663FF5}"/>
              </a:ext>
            </a:extLst>
          </p:cNvPr>
          <p:cNvSpPr>
            <a:spLocks xmlns:a="http://schemas.openxmlformats.org/drawingml/2006/main" noGrp="1"/>
          </p:cNvSpPr>
          <p:nvPr/>
        </p:nvSpPr>
        <p:spPr>
          <a:xfrm xmlns:a="http://schemas.openxmlformats.org/drawingml/2006/main">
            <a:off x="666750" y="8143875"/>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52677B"/>
                </a:solidFill>
              </a:defRPr>
            </a:defPPr>
          </a:lstStyle>
          <a:p xmlns:a="http://schemas.openxmlformats.org/drawingml/2006/main">
            <a:pPr algn="l">
              <a:defRPr sz="1350" b="0">
                <a:solidFill>
                  <a:srgbClr val="52677B"/>
                </a:solidFill>
              </a:defRPr>
            </a:pPr>
            <a:r>
              <a:rPr sz="1350" b="0">
                <a:solidFill>
                  <a:srgbClr val="52677B"/>
                </a:solidFill>
              </a:rPr>
              <a:t>Insurance AI</a:t>
            </a:r>
          </a:p>
        </p:txBody>
      </p:sp>
      <p:sp>
        <p:nvSpPr>
          <p:cNvPr id="4" name="">
            <a:extLst xmlns:a="http://schemas.openxmlformats.org/drawingml/2006/main">
              <a:ext uri="{FF2B5EF4-FFF2-40B4-BE49-F238E27FC236}">
                <a16:creationId xmlns:a16="http://schemas.microsoft.com/office/drawing/2014/main" id="{1B92EC65-F1F5-403A-A8B7-90F5C712036E}"/>
              </a:ext>
            </a:extLst>
          </p:cNvPr>
          <p:cNvSpPr>
            <a:spLocks xmlns:a="http://schemas.openxmlformats.org/drawingml/2006/main" noGrp="1"/>
          </p:cNvSpPr>
          <p:nvPr/>
        </p:nvSpPr>
        <p:spPr>
          <a:xfrm xmlns:a="http://schemas.openxmlformats.org/drawingml/2006/main">
            <a:off x="13811250" y="80962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500" b="0">
                <a:solidFill>
                  <a:srgbClr val="52677B"/>
                </a:solidFill>
              </a:defRPr>
            </a:defPPr>
          </a:lstStyle>
          <a:p xmlns:a="http://schemas.openxmlformats.org/drawingml/2006/main">
            <a:pPr algn="r">
              <a:defRPr sz="1500" b="0">
                <a:solidFill>
                  <a:srgbClr val="52677B"/>
                </a:solidFill>
              </a:defRPr>
            </a:pPr>
            <a:r>
              <a:rPr sz="1500" b="0">
                <a:solidFill>
                  <a:srgbClr val="52677B"/>
                </a:solidFill>
              </a:rPr>
              <a:t>03</a:t>
            </a:r>
          </a:p>
        </p:txBody>
      </p:sp>
      <p:sp>
        <p:nvSpPr>
          <p:cNvPr id="5" name="">
            <a:extLst xmlns:a="http://schemas.openxmlformats.org/drawingml/2006/main">
              <a:ext uri="{FF2B5EF4-FFF2-40B4-BE49-F238E27FC236}">
                <a16:creationId xmlns:a16="http://schemas.microsoft.com/office/drawing/2014/main" id="{EE929F46-A135-4100-9AD1-62CA968E120F}"/>
              </a:ext>
            </a:extLst>
          </p:cNvPr>
          <p:cNvSpPr>
            <a:spLocks xmlns:a="http://schemas.openxmlformats.org/drawingml/2006/main" noGrp="1"/>
          </p:cNvSpPr>
          <p:nvPr/>
        </p:nvSpPr>
        <p:spPr>
          <a:xfrm xmlns:a="http://schemas.openxmlformats.org/drawingml/2006/main">
            <a:off x="666750" y="18288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007F86"/>
                </a:solidFill>
              </a:defRPr>
            </a:defPPr>
          </a:lstStyle>
          <a:p xmlns:a="http://schemas.openxmlformats.org/drawingml/2006/main">
            <a:pPr algn="l">
              <a:defRPr sz="2175" b="1">
                <a:solidFill>
                  <a:srgbClr val="007F86"/>
                </a:solidFill>
              </a:defRPr>
            </a:pPr>
            <a:r>
              <a:rPr sz="2175" b="1">
                <a:solidFill>
                  <a:srgbClr val="007F86"/>
                </a:solidFill>
              </a:rPr>
              <a:t>01  Acquisition</a:t>
            </a:r>
          </a:p>
        </p:txBody>
      </p:sp>
      <p:sp>
        <p:nvSpPr>
          <p:cNvPr id="6" name="">
            <a:extLst xmlns:a="http://schemas.openxmlformats.org/drawingml/2006/main">
              <a:ext uri="{FF2B5EF4-FFF2-40B4-BE49-F238E27FC236}">
                <a16:creationId xmlns:a16="http://schemas.microsoft.com/office/drawing/2014/main" id="{72BFAACC-0D0B-4CB0-875C-3C1CAB05B820}"/>
              </a:ext>
            </a:extLst>
          </p:cNvPr>
          <p:cNvSpPr>
            <a:spLocks xmlns:a="http://schemas.openxmlformats.org/drawingml/2006/main" noGrp="1"/>
          </p:cNvSpPr>
          <p:nvPr/>
        </p:nvSpPr>
        <p:spPr>
          <a:xfrm xmlns:a="http://schemas.openxmlformats.org/drawingml/2006/main">
            <a:off x="666750" y="26193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Lead Generation</a:t>
            </a:r>
          </a:p>
        </p:txBody>
      </p:sp>
      <p:sp>
        <p:nvSpPr>
          <p:cNvPr id="7" name="">
            <a:extLst xmlns:a="http://schemas.openxmlformats.org/drawingml/2006/main">
              <a:ext uri="{FF2B5EF4-FFF2-40B4-BE49-F238E27FC236}">
                <a16:creationId xmlns:a16="http://schemas.microsoft.com/office/drawing/2014/main" id="{937B4CC9-21FA-4D54-9FC0-1EF22E874452}"/>
              </a:ext>
            </a:extLst>
          </p:cNvPr>
          <p:cNvSpPr>
            <a:spLocks xmlns:a="http://schemas.openxmlformats.org/drawingml/2006/main" noGrp="1"/>
          </p:cNvSpPr>
          <p:nvPr/>
        </p:nvSpPr>
        <p:spPr>
          <a:xfrm xmlns:a="http://schemas.openxmlformats.org/drawingml/2006/main">
            <a:off x="666750" y="34194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Customer Acquisition</a:t>
            </a:r>
          </a:p>
        </p:txBody>
      </p:sp>
      <p:sp>
        <p:nvSpPr>
          <p:cNvPr id="9" name="">
            <a:extLst xmlns:a="http://schemas.openxmlformats.org/drawingml/2006/main">
              <a:ext uri="{FF2B5EF4-FFF2-40B4-BE49-F238E27FC236}">
                <a16:creationId xmlns:a16="http://schemas.microsoft.com/office/drawing/2014/main" id="{CD7C8CC2-23CC-4F97-B58D-F96AFC0D94E9}"/>
              </a:ext>
            </a:extLst>
          </p:cNvPr>
          <p:cNvSpPr>
            <a:spLocks xmlns:a="http://schemas.openxmlformats.org/drawingml/2006/main" noGrp="1"/>
          </p:cNvSpPr>
          <p:nvPr/>
        </p:nvSpPr>
        <p:spPr>
          <a:xfrm xmlns:a="http://schemas.openxmlformats.org/drawingml/2006/main">
            <a:off x="666750" y="42195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Quotation / Premium Illustration</a:t>
            </a:r>
          </a:p>
        </p:txBody>
      </p:sp>
      <p:sp>
        <p:nvSpPr>
          <p:cNvPr id="11" name="">
            <a:extLst xmlns:a="http://schemas.openxmlformats.org/drawingml/2006/main">
              <a:ext uri="{FF2B5EF4-FFF2-40B4-BE49-F238E27FC236}">
                <a16:creationId xmlns:a16="http://schemas.microsoft.com/office/drawing/2014/main" id="{3CA77B26-BBAE-4D33-B6B9-41A7107D1E81}"/>
              </a:ext>
            </a:extLst>
          </p:cNvPr>
          <p:cNvSpPr>
            <a:spLocks xmlns:a="http://schemas.openxmlformats.org/drawingml/2006/main" noGrp="1"/>
          </p:cNvSpPr>
          <p:nvPr/>
        </p:nvSpPr>
        <p:spPr>
          <a:xfrm xmlns:a="http://schemas.openxmlformats.org/drawingml/2006/main">
            <a:off x="666750" y="50196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Premium Collection</a:t>
            </a:r>
          </a:p>
        </p:txBody>
      </p:sp>
      <p:sp>
        <p:nvSpPr>
          <p:cNvPr id="13" name="">
            <a:extLst xmlns:a="http://schemas.openxmlformats.org/drawingml/2006/main">
              <a:ext uri="{FF2B5EF4-FFF2-40B4-BE49-F238E27FC236}">
                <a16:creationId xmlns:a16="http://schemas.microsoft.com/office/drawing/2014/main" id="{FF6D8E81-805A-4A85-855A-85D5E1921ED2}"/>
              </a:ext>
            </a:extLst>
          </p:cNvPr>
          <p:cNvSpPr>
            <a:spLocks xmlns:a="http://schemas.openxmlformats.org/drawingml/2006/main" noGrp="1"/>
          </p:cNvSpPr>
          <p:nvPr/>
        </p:nvSpPr>
        <p:spPr>
          <a:xfrm xmlns:a="http://schemas.openxmlformats.org/drawingml/2006/main">
            <a:off x="666750" y="58197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Proposal Submission</a:t>
            </a:r>
          </a:p>
        </p:txBody>
      </p:sp>
      <p:sp>
        <p:nvSpPr>
          <p:cNvPr id="15" name="">
            <a:extLst xmlns:a="http://schemas.openxmlformats.org/drawingml/2006/main">
              <a:ext uri="{FF2B5EF4-FFF2-40B4-BE49-F238E27FC236}">
                <a16:creationId xmlns:a16="http://schemas.microsoft.com/office/drawing/2014/main" id="{ECFB1059-FE17-4B62-85A8-ADDA927A3D4B}"/>
              </a:ext>
            </a:extLst>
          </p:cNvPr>
          <p:cNvSpPr>
            <a:spLocks xmlns:a="http://schemas.openxmlformats.org/drawingml/2006/main" noGrp="1"/>
          </p:cNvSpPr>
          <p:nvPr/>
        </p:nvSpPr>
        <p:spPr>
          <a:xfrm xmlns:a="http://schemas.openxmlformats.org/drawingml/2006/main">
            <a:off x="666750" y="66198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Document Collection</a:t>
            </a:r>
          </a:p>
        </p:txBody>
      </p:sp>
      <p:sp>
        <p:nvSpPr>
          <p:cNvPr id="17" name="">
            <a:extLst xmlns:a="http://schemas.openxmlformats.org/drawingml/2006/main">
              <a:ext uri="{FF2B5EF4-FFF2-40B4-BE49-F238E27FC236}">
                <a16:creationId xmlns:a16="http://schemas.microsoft.com/office/drawing/2014/main" id="{D6A83B40-4A62-44DC-A249-229A6006E308}"/>
              </a:ext>
            </a:extLst>
          </p:cNvPr>
          <p:cNvSpPr>
            <a:spLocks xmlns:a="http://schemas.openxmlformats.org/drawingml/2006/main" noGrp="1"/>
          </p:cNvSpPr>
          <p:nvPr/>
        </p:nvSpPr>
        <p:spPr>
          <a:xfrm xmlns:a="http://schemas.openxmlformats.org/drawingml/2006/main">
            <a:off x="5524500" y="18288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007F86"/>
                </a:solidFill>
              </a:defRPr>
            </a:defPPr>
          </a:lstStyle>
          <a:p xmlns:a="http://schemas.openxmlformats.org/drawingml/2006/main">
            <a:pPr algn="l">
              <a:defRPr sz="2175" b="1">
                <a:solidFill>
                  <a:srgbClr val="007F86"/>
                </a:solidFill>
              </a:defRPr>
            </a:pPr>
            <a:r>
              <a:rPr sz="2175" b="1">
                <a:solidFill>
                  <a:srgbClr val="007F86"/>
                </a:solidFill>
              </a:rPr>
              <a:t>02  Assessment &amp; issuance</a:t>
            </a:r>
          </a:p>
        </p:txBody>
      </p:sp>
      <p:sp>
        <p:nvSpPr>
          <p:cNvPr id="18" name="">
            <a:extLst xmlns:a="http://schemas.openxmlformats.org/drawingml/2006/main">
              <a:ext uri="{FF2B5EF4-FFF2-40B4-BE49-F238E27FC236}">
                <a16:creationId xmlns:a16="http://schemas.microsoft.com/office/drawing/2014/main" id="{A8B8062B-62AD-4E94-B6A9-28C1DB007F40}"/>
              </a:ext>
            </a:extLst>
          </p:cNvPr>
          <p:cNvSpPr>
            <a:spLocks xmlns:a="http://schemas.openxmlformats.org/drawingml/2006/main" noGrp="1"/>
          </p:cNvSpPr>
          <p:nvPr/>
        </p:nvSpPr>
        <p:spPr>
          <a:xfrm xmlns:a="http://schemas.openxmlformats.org/drawingml/2006/main">
            <a:off x="5524500" y="26193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OCR &amp; AI Validation</a:t>
            </a:r>
          </a:p>
        </p:txBody>
      </p:sp>
      <p:sp>
        <p:nvSpPr>
          <p:cNvPr id="19" name="">
            <a:extLst xmlns:a="http://schemas.openxmlformats.org/drawingml/2006/main">
              <a:ext uri="{FF2B5EF4-FFF2-40B4-BE49-F238E27FC236}">
                <a16:creationId xmlns:a16="http://schemas.microsoft.com/office/drawing/2014/main" id="{43370CD9-0643-4119-94E3-B8BF2CBAAA02}"/>
              </a:ext>
            </a:extLst>
          </p:cNvPr>
          <p:cNvSpPr>
            <a:spLocks xmlns:a="http://schemas.openxmlformats.org/drawingml/2006/main" noGrp="1"/>
          </p:cNvSpPr>
          <p:nvPr/>
        </p:nvSpPr>
        <p:spPr>
          <a:xfrm xmlns:a="http://schemas.openxmlformats.org/drawingml/2006/main">
            <a:off x="5524500" y="34194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Medical Underwriting</a:t>
            </a:r>
          </a:p>
        </p:txBody>
      </p:sp>
      <p:sp>
        <p:nvSpPr>
          <p:cNvPr id="21" name="">
            <a:extLst xmlns:a="http://schemas.openxmlformats.org/drawingml/2006/main">
              <a:ext uri="{FF2B5EF4-FFF2-40B4-BE49-F238E27FC236}">
                <a16:creationId xmlns:a16="http://schemas.microsoft.com/office/drawing/2014/main" id="{F8C0B5CB-9F1C-4295-A6B7-BB90B05B731F}"/>
              </a:ext>
            </a:extLst>
          </p:cNvPr>
          <p:cNvSpPr>
            <a:spLocks xmlns:a="http://schemas.openxmlformats.org/drawingml/2006/main" noGrp="1"/>
          </p:cNvSpPr>
          <p:nvPr/>
        </p:nvSpPr>
        <p:spPr>
          <a:xfrm xmlns:a="http://schemas.openxmlformats.org/drawingml/2006/main">
            <a:off x="5524500" y="42195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Financial Underwriting</a:t>
            </a:r>
          </a:p>
        </p:txBody>
      </p:sp>
      <p:sp>
        <p:nvSpPr>
          <p:cNvPr id="23" name="">
            <a:extLst xmlns:a="http://schemas.openxmlformats.org/drawingml/2006/main">
              <a:ext uri="{FF2B5EF4-FFF2-40B4-BE49-F238E27FC236}">
                <a16:creationId xmlns:a16="http://schemas.microsoft.com/office/drawing/2014/main" id="{D867B7A3-0179-4919-BF88-2713328FD982}"/>
              </a:ext>
            </a:extLst>
          </p:cNvPr>
          <p:cNvSpPr>
            <a:spLocks xmlns:a="http://schemas.openxmlformats.org/drawingml/2006/main" noGrp="1"/>
          </p:cNvSpPr>
          <p:nvPr/>
        </p:nvSpPr>
        <p:spPr>
          <a:xfrm xmlns:a="http://schemas.openxmlformats.org/drawingml/2006/main">
            <a:off x="5524500" y="50196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Fraud &amp; Risk Analysis</a:t>
            </a:r>
          </a:p>
        </p:txBody>
      </p:sp>
      <p:sp>
        <p:nvSpPr>
          <p:cNvPr id="25" name="">
            <a:extLst xmlns:a="http://schemas.openxmlformats.org/drawingml/2006/main">
              <a:ext uri="{FF2B5EF4-FFF2-40B4-BE49-F238E27FC236}">
                <a16:creationId xmlns:a16="http://schemas.microsoft.com/office/drawing/2014/main" id="{E9CC161E-E0FC-4B4E-B0B8-CEEDD394AA04}"/>
              </a:ext>
            </a:extLst>
          </p:cNvPr>
          <p:cNvSpPr>
            <a:spLocks xmlns:a="http://schemas.openxmlformats.org/drawingml/2006/main" noGrp="1"/>
          </p:cNvSpPr>
          <p:nvPr/>
        </p:nvSpPr>
        <p:spPr>
          <a:xfrm xmlns:a="http://schemas.openxmlformats.org/drawingml/2006/main">
            <a:off x="5524500" y="58197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Underwriter Decision</a:t>
            </a:r>
          </a:p>
        </p:txBody>
      </p:sp>
      <p:sp>
        <p:nvSpPr>
          <p:cNvPr id="27" name="">
            <a:extLst xmlns:a="http://schemas.openxmlformats.org/drawingml/2006/main">
              <a:ext uri="{FF2B5EF4-FFF2-40B4-BE49-F238E27FC236}">
                <a16:creationId xmlns:a16="http://schemas.microsoft.com/office/drawing/2014/main" id="{3F4CACFA-A15C-484A-817B-E629CF504EF5}"/>
              </a:ext>
            </a:extLst>
          </p:cNvPr>
          <p:cNvSpPr>
            <a:spLocks xmlns:a="http://schemas.openxmlformats.org/drawingml/2006/main" noGrp="1"/>
          </p:cNvSpPr>
          <p:nvPr/>
        </p:nvSpPr>
        <p:spPr>
          <a:xfrm xmlns:a="http://schemas.openxmlformats.org/drawingml/2006/main">
            <a:off x="5524500" y="66198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Policy Issuance</a:t>
            </a:r>
          </a:p>
        </p:txBody>
      </p:sp>
      <p:sp>
        <p:nvSpPr>
          <p:cNvPr id="29" name="">
            <a:extLst xmlns:a="http://schemas.openxmlformats.org/drawingml/2006/main">
              <a:ext uri="{FF2B5EF4-FFF2-40B4-BE49-F238E27FC236}">
                <a16:creationId xmlns:a16="http://schemas.microsoft.com/office/drawing/2014/main" id="{83D39629-FE42-4922-AA6F-5AE50B34A610}"/>
              </a:ext>
            </a:extLst>
          </p:cNvPr>
          <p:cNvSpPr>
            <a:spLocks xmlns:a="http://schemas.openxmlformats.org/drawingml/2006/main" noGrp="1"/>
          </p:cNvSpPr>
          <p:nvPr/>
        </p:nvSpPr>
        <p:spPr>
          <a:xfrm xmlns:a="http://schemas.openxmlformats.org/drawingml/2006/main">
            <a:off x="10382250" y="18288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007F86"/>
                </a:solidFill>
              </a:defRPr>
            </a:defPPr>
          </a:lstStyle>
          <a:p xmlns:a="http://schemas.openxmlformats.org/drawingml/2006/main">
            <a:pPr algn="l">
              <a:defRPr sz="2175" b="1">
                <a:solidFill>
                  <a:srgbClr val="007F86"/>
                </a:solidFill>
              </a:defRPr>
            </a:pPr>
            <a:r>
              <a:rPr sz="2175" b="1">
                <a:solidFill>
                  <a:srgbClr val="007F86"/>
                </a:solidFill>
              </a:rPr>
              <a:t>03  Servicing &amp; settlement</a:t>
            </a:r>
          </a:p>
        </p:txBody>
      </p:sp>
      <p:sp>
        <p:nvSpPr>
          <p:cNvPr id="30" name="">
            <a:extLst xmlns:a="http://schemas.openxmlformats.org/drawingml/2006/main">
              <a:ext uri="{FF2B5EF4-FFF2-40B4-BE49-F238E27FC236}">
                <a16:creationId xmlns:a16="http://schemas.microsoft.com/office/drawing/2014/main" id="{166DAB3B-4CB2-4912-BAE9-6CA9CA3D9A8B}"/>
              </a:ext>
            </a:extLst>
          </p:cNvPr>
          <p:cNvSpPr>
            <a:spLocks xmlns:a="http://schemas.openxmlformats.org/drawingml/2006/main" noGrp="1"/>
          </p:cNvSpPr>
          <p:nvPr/>
        </p:nvSpPr>
        <p:spPr>
          <a:xfrm xmlns:a="http://schemas.openxmlformats.org/drawingml/2006/main">
            <a:off x="10382250" y="26193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Commission Processing</a:t>
            </a:r>
          </a:p>
        </p:txBody>
      </p:sp>
      <p:sp>
        <p:nvSpPr>
          <p:cNvPr id="31" name="">
            <a:extLst xmlns:a="http://schemas.openxmlformats.org/drawingml/2006/main">
              <a:ext uri="{FF2B5EF4-FFF2-40B4-BE49-F238E27FC236}">
                <a16:creationId xmlns:a16="http://schemas.microsoft.com/office/drawing/2014/main" id="{1CCF246C-237C-4D01-8F8C-A9A16718C031}"/>
              </a:ext>
            </a:extLst>
          </p:cNvPr>
          <p:cNvSpPr>
            <a:spLocks xmlns:a="http://schemas.openxmlformats.org/drawingml/2006/main" noGrp="1"/>
          </p:cNvSpPr>
          <p:nvPr/>
        </p:nvSpPr>
        <p:spPr>
          <a:xfrm xmlns:a="http://schemas.openxmlformats.org/drawingml/2006/main">
            <a:off x="10382250" y="3419475"/>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Customer Servicing</a:t>
            </a:r>
          </a:p>
        </p:txBody>
      </p:sp>
      <p:sp>
        <p:nvSpPr>
          <p:cNvPr id="33" name="">
            <a:extLst xmlns:a="http://schemas.openxmlformats.org/drawingml/2006/main">
              <a:ext uri="{FF2B5EF4-FFF2-40B4-BE49-F238E27FC236}">
                <a16:creationId xmlns:a16="http://schemas.microsoft.com/office/drawing/2014/main" id="{5589A2C4-AF14-40BB-8D5F-90A6CEB62AFC}"/>
              </a:ext>
            </a:extLst>
          </p:cNvPr>
          <p:cNvSpPr>
            <a:spLocks xmlns:a="http://schemas.openxmlformats.org/drawingml/2006/main" noGrp="1"/>
          </p:cNvSpPr>
          <p:nvPr/>
        </p:nvSpPr>
        <p:spPr>
          <a:xfrm xmlns:a="http://schemas.openxmlformats.org/drawingml/2006/main">
            <a:off x="10382250" y="4219575"/>
            <a:ext cx="4333875"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00" b="0">
                <a:solidFill>
                  <a:srgbClr val="102D49"/>
                </a:solidFill>
              </a:defRPr>
            </a:defPPr>
          </a:lstStyle>
          <a:p xmlns:a="http://schemas.openxmlformats.org/drawingml/2006/main">
            <a:pPr algn="ctr">
              <a:defRPr sz="1800" b="0">
                <a:solidFill>
                  <a:srgbClr val="102D49"/>
                </a:solidFill>
              </a:defRPr>
            </a:pPr>
            <a:r>
              <a:rPr sz="1800" b="0">
                <a:solidFill>
                  <a:srgbClr val="102D49"/>
                </a:solidFill>
              </a:rPr>
              <a:t>Surrender on maturity / before maturity / customer death or disability</a:t>
            </a:r>
          </a:p>
        </p:txBody>
      </p:sp>
      <p:sp>
        <p:nvSpPr>
          <p:cNvPr id="35" name="">
            <a:extLst xmlns:a="http://schemas.openxmlformats.org/drawingml/2006/main">
              <a:ext uri="{FF2B5EF4-FFF2-40B4-BE49-F238E27FC236}">
                <a16:creationId xmlns:a16="http://schemas.microsoft.com/office/drawing/2014/main" id="{94EB7109-B5BD-450D-BC0C-93DC3EAF9C0B}"/>
              </a:ext>
            </a:extLst>
          </p:cNvPr>
          <p:cNvSpPr>
            <a:spLocks xmlns:a="http://schemas.openxmlformats.org/drawingml/2006/main" noGrp="1"/>
          </p:cNvSpPr>
          <p:nvPr/>
        </p:nvSpPr>
        <p:spPr>
          <a:xfrm xmlns:a="http://schemas.openxmlformats.org/drawingml/2006/main">
            <a:off x="10382250" y="5505450"/>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Claims Processing</a:t>
            </a:r>
          </a:p>
        </p:txBody>
      </p:sp>
      <p:sp>
        <p:nvSpPr>
          <p:cNvPr id="37" name="">
            <a:extLst xmlns:a="http://schemas.openxmlformats.org/drawingml/2006/main">
              <a:ext uri="{FF2B5EF4-FFF2-40B4-BE49-F238E27FC236}">
                <a16:creationId xmlns:a16="http://schemas.microsoft.com/office/drawing/2014/main" id="{30516FFE-0D43-4F70-BB8D-01C63D88E9D1}"/>
              </a:ext>
            </a:extLst>
          </p:cNvPr>
          <p:cNvSpPr>
            <a:spLocks xmlns:a="http://schemas.openxmlformats.org/drawingml/2006/main" noGrp="1"/>
          </p:cNvSpPr>
          <p:nvPr/>
        </p:nvSpPr>
        <p:spPr>
          <a:xfrm xmlns:a="http://schemas.openxmlformats.org/drawingml/2006/main">
            <a:off x="10382250" y="6305550"/>
            <a:ext cx="4333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2EB"/>
            </a:solidFill>
          </a:ln>
        </p:spPr>
        <p:txBody>
          <a:bodyPr xmlns:a="http://schemas.openxmlformats.org/drawingml/2006/main" anchor="ctr"/>
          <a:lstStyle xmlns:a="http://schemas.openxmlformats.org/drawingml/2006/main">
            <a:defPPr algn="ctr">
              <a:defRPr sz="1875" b="0">
                <a:solidFill>
                  <a:srgbClr val="102D49"/>
                </a:solidFill>
              </a:defRPr>
            </a:defPPr>
          </a:lstStyle>
          <a:p xmlns:a="http://schemas.openxmlformats.org/drawingml/2006/main">
            <a:pPr algn="ctr">
              <a:defRPr sz="1875" b="0">
                <a:solidFill>
                  <a:srgbClr val="102D49"/>
                </a:solidFill>
              </a:defRPr>
            </a:pPr>
            <a:r>
              <a:rPr sz="1875" b="0">
                <a:solidFill>
                  <a:srgbClr val="102D49"/>
                </a:solidFill>
              </a:rPr>
              <a:t>Policy Closure / Maturity / Surrender</a:t>
            </a:r>
          </a:p>
        </p:txBody>
      </p:sp>
      <p:sp>
        <p:nvSpPr>
          <p:cNvPr id="39" name="">
            <a:extLst xmlns:a="http://schemas.openxmlformats.org/drawingml/2006/main">
              <a:ext uri="{FF2B5EF4-FFF2-40B4-BE49-F238E27FC236}">
                <a16:creationId xmlns:a16="http://schemas.microsoft.com/office/drawing/2014/main" id="{F847CFB4-EF86-43D8-A243-C009046FE396}"/>
              </a:ext>
            </a:extLst>
          </p:cNvPr>
          <p:cNvSpPr>
            <a:spLocks xmlns:a="http://schemas.openxmlformats.org/drawingml/2006/main" noGrp="1"/>
          </p:cNvSpPr>
          <p:nvPr/>
        </p:nvSpPr>
        <p:spPr>
          <a:xfrm xmlns:a="http://schemas.openxmlformats.org/drawingml/2006/main">
            <a:off x="666750" y="7639050"/>
            <a:ext cx="1390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75" b="0">
                <a:solidFill>
                  <a:srgbClr val="52677B"/>
                </a:solidFill>
              </a:defRPr>
            </a:defPPr>
          </a:lstStyle>
          <a:p xmlns:a="http://schemas.openxmlformats.org/drawingml/2006/main">
            <a:pPr algn="l">
              <a:defRPr sz="1575" b="0">
                <a:solidFill>
                  <a:srgbClr val="52677B"/>
                </a:solidFill>
              </a:defRPr>
            </a:pPr>
            <a:r>
              <a:rPr sz="1575" b="0">
                <a:solidFill>
                  <a:srgbClr val="52677B"/>
                </a:solidFill>
              </a:rPr>
              <a:t>Operational note: maturity, surrender, and death/disability follow different settlement paths. Sequence retained as shared.</a:t>
            </a:r>
          </a:p>
        </p:txBody>
      </p:sp>
    </p:spTree>
    <p:extLst>
      <p:ext uri="{BB962C8B-B14F-4D97-AF65-F5344CB8AC3E}">
        <p14:creationId xmlns:p14="http://schemas.microsoft.com/office/powerpoint/2010/main" val="1021591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2026-10-13T12:22:02.0170000Z</dcterms:created>
  <dcterms:modified xsi:type="dcterms:W3CDTF">2026-10-13T12:22:02.0170000Z</dcterms:modified>
</coreProperties>
</file>